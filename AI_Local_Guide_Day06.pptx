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[0:00-0:30 | P5 - Hiếu] Hook: bạn vừa đến một khu vực lạ, đói, không quen ai, mở Google Maps và bị 'ngợp' giữa hàng chục kết quả. Thứ thiếu nhất không phải quán ăn mà là một người địa phương rành khu vực. Đó là thứ AI Local Guide thay thế.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[P5 - Hiếu] Hai bằng chứng: (1) quote phỏng vấn Day 05 — đến nơi mới là tê liệt khi chọn quán; (2) 61% rời app sau lần tìm đầu tiên (Nielsen Norman Group 2023). Chốt insight: thiếu một người địa phương rành khu vực.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[0:30-1:00 | P5 - Hiếu] Khác Google Maps: không bắt gõ từ khóa, mà hỏi 4 câu MCQ chạm-chọn. AI nhận profile + danh sách quán quanh vị trí thật → trả 3 gợi ý kèm lý do. Mời P3 (Đạt) demo trực tiếp.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[1:00-2:30 | P3 - Đạt] DEMO TRỰC TIẾP. Slide này giữ trên màn hình khi thao tác app. Quan trọng: app KHÔNG có dữ liệu quán tự dựng — nó gọi Google để lấy VỊ TRÍ THẬT (lúc này = Hà Nội, ngay tại trường) rồi lấy danh sách quán quanh đây từ Google Places. Happy path: app tự hiện 'Bạn đang ở Hà Nội' -&gt; tap 4 MCQ (Trưa / Một mình / Đặc sản địa phương / Không yêu cầu) -&gt; loading 'AI đang tìm quán' -&gt; 3 kết quả THẬT quanh trường -&gt; bấm 'Xem đường đi' mở Google Maps. 3 thẻ trên slide chỉ là ví dụ minh hoạ; nhấn mạnh với giám khảo rằng kết quả trên máy là quán thật quanh vị trí hiện tại. Nếu mạng/app lỗi: chuyển sang video backup 2 phút đã quay sẵn (P6 chuẩn bị).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[2:30-3:30 | P4 - Trung] Error case + log. Thử case 'Khuya + Chay' để bật cảnh báo review/độ tin cậy. Ba failure mode: quán đóng cửa (badge + link Maps), review cũ (hạ confidence), không tìm thấy (tự mở rộng bán kính, không bịa). Nguyên tắc: AI không bịa dữ liệu; dị ứng/ăn chay/Halal là Critical Constraint — luôn nhắc xác nhận với quán. Mở log file cho giám khảo xem.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[3:30-4:00 | P2 - Giáp] Giải thích AI làm gì. Augment chứ không Automate: AI làm 4 việc bên trái; người dùng giữ 4 quyết định bên phải. Prompt nhận profile + danh sách quán từ Google → trả JSON có lý do + mức confidence để UI render. Lý do không Automate: dữ liệu quán đổi liên tục + khẩu vị/dị ứng cá nhân.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[4:00-5:00 | P5 - Hiếu] Kết: đã làm được / chưa build / nếu thêm 1 ngày. Mời Q&amp;A. Câu tủ: Augment hay Automate? -&gt; Augment. Failure mode chính? -&gt; quán đóng cửa không cập nhật; mitigation badge + link Maps. Tại sao không dùng Foody/Maps? -&gt; chúng không filter theo bối cảnh (bữa nào, mấy người, phong cách) và không sinh lý do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43F"/>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EF5B3C">
              <a:alpha val="22000"/>
            </a:srgbClr>
          </a:solidFill>
          <a:ln/>
        </p:spPr>
      </p:sp>
      <p:sp>
        <p:nvSpPr>
          <p:cNvPr id="3" name="Shape 1"/>
          <p:cNvSpPr/>
          <p:nvPr/>
        </p:nvSpPr>
        <p:spPr>
          <a:xfrm>
            <a:off x="10698480" y="4297680"/>
            <a:ext cx="2926080" cy="2926080"/>
          </a:xfrm>
          <a:prstGeom prst="ellipse">
            <a:avLst/>
          </a:prstGeom>
          <a:solidFill>
            <a:srgbClr val="F2A03D">
              <a:alpha val="18000"/>
            </a:srgbClr>
          </a:solidFill>
          <a:ln/>
        </p:spPr>
      </p:sp>
      <p:sp>
        <p:nvSpPr>
          <p:cNvPr id="4" name="Shape 2"/>
          <p:cNvSpPr/>
          <p:nvPr/>
        </p:nvSpPr>
        <p:spPr>
          <a:xfrm>
            <a:off x="868680" y="1234440"/>
            <a:ext cx="868680" cy="868680"/>
          </a:xfrm>
          <a:prstGeom prst="ellipse">
            <a:avLst/>
          </a:prstGeom>
          <a:solidFill>
            <a:srgbClr val="EF5B3C"/>
          </a:solidFill>
          <a:ln/>
          <a:effectLst>
            <a:outerShdw sx="100000" sy="100000" kx="0" ky="0" algn="bl" rotWithShape="0" blurRad="101600" dist="38100" dir="8100000">
              <a:srgbClr val="000000">
                <a:alpha val="16000"/>
              </a:srgbClr>
            </a:outerShdw>
          </a:effectLst>
        </p:spPr>
      </p:sp>
      <p:pic>
        <p:nvPicPr>
          <p:cNvPr id="5" name="Image 0" descr="preencoded.png">    </p:cNvPr>
          <p:cNvPicPr>
            <a:picLocks noChangeAspect="1"/>
          </p:cNvPicPr>
          <p:nvPr/>
        </p:nvPicPr>
        <p:blipFill>
          <a:blip r:embed="rId1"/>
          <a:stretch>
            <a:fillRect/>
          </a:stretch>
        </p:blipFill>
        <p:spPr>
          <a:xfrm>
            <a:off x="1103224" y="1468984"/>
            <a:ext cx="399593" cy="399593"/>
          </a:xfrm>
          <a:prstGeom prst="rect">
            <a:avLst/>
          </a:prstGeom>
        </p:spPr>
      </p:pic>
      <p:sp>
        <p:nvSpPr>
          <p:cNvPr id="6" name="Text 3"/>
          <p:cNvSpPr/>
          <p:nvPr/>
        </p:nvSpPr>
        <p:spPr>
          <a:xfrm>
            <a:off x="1920240" y="1371600"/>
            <a:ext cx="8229600" cy="365760"/>
          </a:xfrm>
          <a:prstGeom prst="rect">
            <a:avLst/>
          </a:prstGeom>
          <a:noFill/>
          <a:ln/>
        </p:spPr>
        <p:txBody>
          <a:bodyPr wrap="square" lIns="0" tIns="0" rIns="0" bIns="0" rtlCol="0" anchor="ctr"/>
          <a:lstStyle/>
          <a:p>
            <a:pPr indent="0" marL="0">
              <a:buNone/>
            </a:pPr>
            <a:r>
              <a:rPr lang="en-US" sz="1400" b="1" spc="300" kern="0" dirty="0">
                <a:solidFill>
                  <a:srgbClr val="F2A03D"/>
                </a:solidFill>
                <a:latin typeface="Calibri" pitchFamily="34" charset="0"/>
                <a:ea typeface="Calibri" pitchFamily="34" charset="-122"/>
                <a:cs typeface="Calibri" pitchFamily="34" charset="-120"/>
              </a:rPr>
              <a:t>DAY 06 HACKATHON   ·   FOOD &amp; LOCAL DELIVERY</a:t>
            </a:r>
            <a:endParaRPr lang="en-US" sz="1400" dirty="0"/>
          </a:p>
        </p:txBody>
      </p:sp>
      <p:sp>
        <p:nvSpPr>
          <p:cNvPr id="7" name="Text 4"/>
          <p:cNvSpPr/>
          <p:nvPr/>
        </p:nvSpPr>
        <p:spPr>
          <a:xfrm>
            <a:off x="822960" y="2286000"/>
            <a:ext cx="10058400" cy="1188720"/>
          </a:xfrm>
          <a:prstGeom prst="rect">
            <a:avLst/>
          </a:prstGeom>
          <a:noFill/>
          <a:ln/>
        </p:spPr>
        <p:txBody>
          <a:bodyPr wrap="square" lIns="0" tIns="0" rIns="0" bIns="0" rtlCol="0" anchor="ctr"/>
          <a:lstStyle/>
          <a:p>
            <a:pPr indent="0" marL="0">
              <a:buNone/>
            </a:pPr>
            <a:r>
              <a:rPr lang="en-US" sz="6600" b="1" dirty="0">
                <a:solidFill>
                  <a:srgbClr val="FFFFFF"/>
                </a:solidFill>
                <a:latin typeface="Georgia" pitchFamily="34" charset="0"/>
                <a:ea typeface="Georgia" pitchFamily="34" charset="-122"/>
                <a:cs typeface="Georgia" pitchFamily="34" charset="-120"/>
              </a:rPr>
              <a:t>AI Local Guide</a:t>
            </a:r>
            <a:endParaRPr lang="en-US" sz="6600" dirty="0"/>
          </a:p>
        </p:txBody>
      </p:sp>
      <p:sp>
        <p:nvSpPr>
          <p:cNvPr id="8" name="Text 5"/>
          <p:cNvSpPr/>
          <p:nvPr/>
        </p:nvSpPr>
        <p:spPr>
          <a:xfrm>
            <a:off x="868680" y="3611880"/>
            <a:ext cx="10515600" cy="502920"/>
          </a:xfrm>
          <a:prstGeom prst="rect">
            <a:avLst/>
          </a:prstGeom>
          <a:noFill/>
          <a:ln/>
        </p:spPr>
        <p:txBody>
          <a:bodyPr wrap="square" lIns="0" tIns="0" rIns="0" bIns="0" rtlCol="0" anchor="ctr"/>
          <a:lstStyle/>
          <a:p>
            <a:pPr indent="0" marL="0">
              <a:buNone/>
            </a:pPr>
            <a:r>
              <a:rPr lang="en-US" sz="2200" dirty="0">
                <a:solidFill>
                  <a:srgbClr val="C7D2E6"/>
                </a:solidFill>
                <a:latin typeface="Calibri" pitchFamily="34" charset="0"/>
                <a:ea typeface="Calibri" pitchFamily="34" charset="-122"/>
                <a:cs typeface="Calibri" pitchFamily="34" charset="-120"/>
              </a:rPr>
              <a:t>Gợi ý quán ăn theo vị trí cho người đến một khu vực lạ.</a:t>
            </a:r>
            <a:endParaRPr lang="en-US" sz="2200" dirty="0"/>
          </a:p>
        </p:txBody>
      </p:sp>
      <p:sp>
        <p:nvSpPr>
          <p:cNvPr id="9" name="Text 6"/>
          <p:cNvSpPr/>
          <p:nvPr/>
        </p:nvSpPr>
        <p:spPr>
          <a:xfrm>
            <a:off x="868680" y="4297680"/>
            <a:ext cx="10058400" cy="548640"/>
          </a:xfrm>
          <a:prstGeom prst="rect">
            <a:avLst/>
          </a:prstGeom>
          <a:noFill/>
          <a:ln/>
        </p:spPr>
        <p:txBody>
          <a:bodyPr wrap="square" lIns="0" tIns="0" rIns="0" bIns="0" rtlCol="0" anchor="ctr"/>
          <a:lstStyle/>
          <a:p>
            <a:pPr indent="0" marL="0">
              <a:buNone/>
            </a:pPr>
            <a:r>
              <a:rPr lang="en-US" sz="2200" b="1" dirty="0">
                <a:solidFill>
                  <a:srgbClr val="EF5B3C"/>
                </a:solidFill>
                <a:latin typeface="Calibri" pitchFamily="34" charset="0"/>
                <a:ea typeface="Calibri" pitchFamily="34" charset="-122"/>
                <a:cs typeface="Calibri" pitchFamily="34" charset="-120"/>
              </a:rPr>
              <a:t>4 lượt chạm</a:t>
            </a:r>
            <a:pPr indent="0" marL="0">
              <a:buNone/>
            </a:pPr>
            <a:r>
              <a:rPr lang="en-US" sz="2200" dirty="0">
                <a:solidFill>
                  <a:srgbClr val="C7D2E6"/>
                </a:solidFill>
                <a:latin typeface="Calibri" pitchFamily="34" charset="0"/>
                <a:ea typeface="Calibri" pitchFamily="34" charset="-122"/>
                <a:cs typeface="Calibri" pitchFamily="34" charset="-120"/>
              </a:rPr>
              <a:t>  →  </a:t>
            </a:r>
            <a:pPr indent="0" marL="0">
              <a:buNone/>
            </a:pPr>
            <a:r>
              <a:rPr lang="en-US" sz="2200" b="1" dirty="0">
                <a:solidFill>
                  <a:srgbClr val="F2A03D"/>
                </a:solidFill>
                <a:latin typeface="Calibri" pitchFamily="34" charset="0"/>
                <a:ea typeface="Calibri" pitchFamily="34" charset="-122"/>
                <a:cs typeface="Calibri" pitchFamily="34" charset="-120"/>
              </a:rPr>
              <a:t>3 gợi ý</a:t>
            </a:r>
            <a:pPr indent="0" marL="0">
              <a:buNone/>
            </a:pPr>
            <a:r>
              <a:rPr lang="en-US" sz="2200" dirty="0">
                <a:solidFill>
                  <a:srgbClr val="C7D2E6"/>
                </a:solidFill>
                <a:latin typeface="Calibri" pitchFamily="34" charset="0"/>
                <a:ea typeface="Calibri" pitchFamily="34" charset="-122"/>
                <a:cs typeface="Calibri" pitchFamily="34" charset="-120"/>
              </a:rPr>
              <a:t>  →  </a:t>
            </a:r>
            <a:pPr indent="0" marL="0">
              <a:buNone/>
            </a:pPr>
            <a:r>
              <a:rPr lang="en-US" sz="2200" b="1" dirty="0">
                <a:solidFill>
                  <a:srgbClr val="FFFFFF"/>
                </a:solidFill>
                <a:latin typeface="Calibri" pitchFamily="34" charset="0"/>
                <a:ea typeface="Calibri" pitchFamily="34" charset="-122"/>
                <a:cs typeface="Calibri" pitchFamily="34" charset="-120"/>
              </a:rPr>
              <a:t>không cần gõ.</a:t>
            </a:r>
            <a:endParaRPr lang="en-US" sz="2200" dirty="0"/>
          </a:p>
        </p:txBody>
      </p:sp>
      <p:sp>
        <p:nvSpPr>
          <p:cNvPr id="10" name="Text 7"/>
          <p:cNvSpPr/>
          <p:nvPr/>
        </p:nvSpPr>
        <p:spPr>
          <a:xfrm>
            <a:off x="868680" y="5989320"/>
            <a:ext cx="10424160" cy="365760"/>
          </a:xfrm>
          <a:prstGeom prst="rect">
            <a:avLst/>
          </a:prstGeom>
          <a:noFill/>
          <a:ln/>
        </p:spPr>
        <p:txBody>
          <a:bodyPr wrap="square" lIns="0" tIns="0" rIns="0" bIns="0" rtlCol="0" anchor="ctr"/>
          <a:lstStyle/>
          <a:p>
            <a:pPr indent="0" marL="0">
              <a:buNone/>
            </a:pPr>
            <a:r>
              <a:rPr lang="en-US" sz="1300" spc="100" kern="0" dirty="0">
                <a:solidFill>
                  <a:srgbClr val="C7D2E6"/>
                </a:solidFill>
                <a:latin typeface="Calibri" pitchFamily="34" charset="0"/>
                <a:ea typeface="Calibri" pitchFamily="34" charset="-122"/>
                <a:cs typeface="Calibri" pitchFamily="34" charset="-120"/>
              </a:rPr>
              <a:t>Thin SPEC · Prototype Day 06  —  Người trình bày: Phan Văn Hiếu</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881360" cy="292608"/>
          </a:xfrm>
          <a:prstGeom prst="rect">
            <a:avLst/>
          </a:prstGeom>
          <a:noFill/>
          <a:ln/>
        </p:spPr>
        <p:txBody>
          <a:bodyPr wrap="square" lIns="0" tIns="0" rIns="0" bIns="0" rtlCol="0" anchor="ctr"/>
          <a:lstStyle/>
          <a:p>
            <a:pPr algn="l" indent="0" marL="0">
              <a:buNone/>
            </a:pPr>
            <a:r>
              <a:rPr lang="en-US" sz="1300" b="1" spc="300" kern="0" dirty="0">
                <a:solidFill>
                  <a:srgbClr val="EF5B3C"/>
                </a:solidFill>
                <a:latin typeface="Calibri" pitchFamily="34" charset="0"/>
                <a:ea typeface="Calibri" pitchFamily="34" charset="-122"/>
                <a:cs typeface="Calibri" pitchFamily="34" charset="-120"/>
              </a:rPr>
              <a:t>01 · VẤN ĐỀ</a:t>
            </a:r>
            <a:endParaRPr lang="en-US" sz="1300" dirty="0"/>
          </a:p>
        </p:txBody>
      </p:sp>
      <p:sp>
        <p:nvSpPr>
          <p:cNvPr id="3" name="Text 1"/>
          <p:cNvSpPr/>
          <p:nvPr/>
        </p:nvSpPr>
        <p:spPr>
          <a:xfrm>
            <a:off x="640080" y="749808"/>
            <a:ext cx="10881360" cy="868680"/>
          </a:xfrm>
          <a:prstGeom prst="rect">
            <a:avLst/>
          </a:prstGeom>
          <a:noFill/>
          <a:ln/>
        </p:spPr>
        <p:txBody>
          <a:bodyPr wrap="square" lIns="0" tIns="0" rIns="0" bIns="0" rtlCol="0" anchor="t"/>
          <a:lstStyle/>
          <a:p>
            <a:pPr algn="l" indent="0" marL="0">
              <a:buNone/>
            </a:pPr>
            <a:r>
              <a:rPr lang="en-US" sz="3300" b="1" dirty="0">
                <a:solidFill>
                  <a:srgbClr val="16243F"/>
                </a:solidFill>
                <a:latin typeface="Georgia" pitchFamily="34" charset="0"/>
                <a:ea typeface="Georgia" pitchFamily="34" charset="-122"/>
                <a:cs typeface="Georgia" pitchFamily="34" charset="-120"/>
              </a:rPr>
              <a:t>Đến nơi lạ, đói — không biết ăn ở đâu</a:t>
            </a:r>
            <a:endParaRPr lang="en-US" sz="3300" dirty="0"/>
          </a:p>
        </p:txBody>
      </p:sp>
      <p:sp>
        <p:nvSpPr>
          <p:cNvPr id="4" name="Shape 2"/>
          <p:cNvSpPr/>
          <p:nvPr/>
        </p:nvSpPr>
        <p:spPr>
          <a:xfrm>
            <a:off x="640080" y="1874520"/>
            <a:ext cx="5669280" cy="3246120"/>
          </a:xfrm>
          <a:prstGeom prst="rect">
            <a:avLst/>
          </a:prstGeom>
          <a:solidFill>
            <a:srgbClr val="F5F6F8"/>
          </a:solidFill>
          <a:ln w="12700">
            <a:solidFill>
              <a:srgbClr val="E3E6EC"/>
            </a:solidFill>
            <a:prstDash val="solid"/>
          </a:ln>
          <a:effectLst>
            <a:outerShdw sx="100000" sy="100000" kx="0" ky="0" algn="bl" rotWithShape="0" blurRad="101600" dist="38100" dir="8100000">
              <a:srgbClr val="000000">
                <a:alpha val="16000"/>
              </a:srgbClr>
            </a:outerShdw>
          </a:effectLst>
        </p:spPr>
      </p:sp>
      <p:sp>
        <p:nvSpPr>
          <p:cNvPr id="5" name="Shape 3"/>
          <p:cNvSpPr/>
          <p:nvPr/>
        </p:nvSpPr>
        <p:spPr>
          <a:xfrm>
            <a:off x="640080" y="1874520"/>
            <a:ext cx="91440" cy="3246120"/>
          </a:xfrm>
          <a:prstGeom prst="rect">
            <a:avLst/>
          </a:prstGeom>
          <a:solidFill>
            <a:srgbClr val="EF5B3C"/>
          </a:solidFill>
          <a:ln/>
        </p:spPr>
      </p:sp>
      <p:pic>
        <p:nvPicPr>
          <p:cNvPr id="6" name="Image 0" descr="preencoded.png">    </p:cNvPr>
          <p:cNvPicPr>
            <a:picLocks noChangeAspect="1"/>
          </p:cNvPicPr>
          <p:nvPr/>
        </p:nvPicPr>
        <p:blipFill>
          <a:blip r:embed="rId1"/>
          <a:stretch>
            <a:fillRect/>
          </a:stretch>
        </p:blipFill>
        <p:spPr>
          <a:xfrm>
            <a:off x="960120" y="2194560"/>
            <a:ext cx="502920" cy="502920"/>
          </a:xfrm>
          <a:prstGeom prst="rect">
            <a:avLst/>
          </a:prstGeom>
        </p:spPr>
      </p:pic>
      <p:sp>
        <p:nvSpPr>
          <p:cNvPr id="7" name="Text 4"/>
          <p:cNvSpPr/>
          <p:nvPr/>
        </p:nvSpPr>
        <p:spPr>
          <a:xfrm>
            <a:off x="960120" y="2834640"/>
            <a:ext cx="5074920" cy="1737360"/>
          </a:xfrm>
          <a:prstGeom prst="rect">
            <a:avLst/>
          </a:prstGeom>
          <a:noFill/>
          <a:ln/>
        </p:spPr>
        <p:txBody>
          <a:bodyPr wrap="square" lIns="0" tIns="0" rIns="0" bIns="0" rtlCol="0" anchor="ctr"/>
          <a:lstStyle/>
          <a:p>
            <a:pPr indent="0" marL="0">
              <a:lnSpc>
                <a:spcPct val="115000"/>
              </a:lnSpc>
              <a:buNone/>
            </a:pPr>
            <a:r>
              <a:rPr lang="en-US" sz="2100" i="1" dirty="0">
                <a:solidFill>
                  <a:srgbClr val="20283A"/>
                </a:solidFill>
                <a:latin typeface="Georgia" pitchFamily="34" charset="0"/>
                <a:ea typeface="Georgia" pitchFamily="34" charset="-122"/>
                <a:cs typeface="Georgia" pitchFamily="34" charset="-120"/>
              </a:rPr>
              <a:t>“Mỗi lần đến thành phố mới mình lại mở Google Maps rồi không biết gõ gì, scroll mãi không chọn được.”</a:t>
            </a:r>
            <a:endParaRPr lang="en-US" sz="2100" dirty="0"/>
          </a:p>
        </p:txBody>
      </p:sp>
      <p:sp>
        <p:nvSpPr>
          <p:cNvPr id="8" name="Text 5"/>
          <p:cNvSpPr/>
          <p:nvPr/>
        </p:nvSpPr>
        <p:spPr>
          <a:xfrm>
            <a:off x="960120" y="4572000"/>
            <a:ext cx="5074920" cy="365760"/>
          </a:xfrm>
          <a:prstGeom prst="rect">
            <a:avLst/>
          </a:prstGeom>
          <a:noFill/>
          <a:ln/>
        </p:spPr>
        <p:txBody>
          <a:bodyPr wrap="square" lIns="0" tIns="0" rIns="0" bIns="0" rtlCol="0" anchor="ctr"/>
          <a:lstStyle/>
          <a:p>
            <a:pPr indent="0" marL="0">
              <a:buNone/>
            </a:pPr>
            <a:r>
              <a:rPr lang="en-US" sz="1300" dirty="0">
                <a:solidFill>
                  <a:srgbClr val="5B6573"/>
                </a:solidFill>
                <a:latin typeface="Calibri" pitchFamily="34" charset="0"/>
                <a:ea typeface="Calibri" pitchFamily="34" charset="-122"/>
                <a:cs typeface="Calibri" pitchFamily="34" charset="-120"/>
              </a:rPr>
              <a:t>— Phỏng vấn nhanh người dùng, Day 05</a:t>
            </a:r>
            <a:endParaRPr lang="en-US" sz="1300" dirty="0"/>
          </a:p>
        </p:txBody>
      </p:sp>
      <p:sp>
        <p:nvSpPr>
          <p:cNvPr id="9" name="Text 6"/>
          <p:cNvSpPr/>
          <p:nvPr/>
        </p:nvSpPr>
        <p:spPr>
          <a:xfrm>
            <a:off x="6675120" y="1737360"/>
            <a:ext cx="4846320" cy="1554480"/>
          </a:xfrm>
          <a:prstGeom prst="rect">
            <a:avLst/>
          </a:prstGeom>
          <a:noFill/>
          <a:ln/>
        </p:spPr>
        <p:txBody>
          <a:bodyPr wrap="square" lIns="0" tIns="0" rIns="0" bIns="0" rtlCol="0" anchor="ctr"/>
          <a:lstStyle/>
          <a:p>
            <a:pPr algn="l" indent="0" marL="0">
              <a:buNone/>
            </a:pPr>
            <a:r>
              <a:rPr lang="en-US" sz="11000" b="1" dirty="0">
                <a:solidFill>
                  <a:srgbClr val="EF5B3C"/>
                </a:solidFill>
                <a:latin typeface="Georgia" pitchFamily="34" charset="0"/>
                <a:ea typeface="Georgia" pitchFamily="34" charset="-122"/>
                <a:cs typeface="Georgia" pitchFamily="34" charset="-120"/>
              </a:rPr>
              <a:t>61%</a:t>
            </a:r>
            <a:endParaRPr lang="en-US" sz="11000" dirty="0"/>
          </a:p>
        </p:txBody>
      </p:sp>
      <p:sp>
        <p:nvSpPr>
          <p:cNvPr id="10" name="Text 7"/>
          <p:cNvSpPr/>
          <p:nvPr/>
        </p:nvSpPr>
        <p:spPr>
          <a:xfrm>
            <a:off x="6720840" y="3429000"/>
            <a:ext cx="4800600" cy="1097280"/>
          </a:xfrm>
          <a:prstGeom prst="rect">
            <a:avLst/>
          </a:prstGeom>
          <a:noFill/>
          <a:ln/>
        </p:spPr>
        <p:txBody>
          <a:bodyPr wrap="square" lIns="0" tIns="0" rIns="0" bIns="0" rtlCol="0" anchor="ctr"/>
          <a:lstStyle/>
          <a:p>
            <a:pPr indent="0" marL="0">
              <a:lnSpc>
                <a:spcPct val="112000"/>
              </a:lnSpc>
              <a:buNone/>
            </a:pPr>
            <a:r>
              <a:rPr lang="en-US" sz="1800" dirty="0">
                <a:solidFill>
                  <a:srgbClr val="20283A"/>
                </a:solidFill>
                <a:latin typeface="Calibri" pitchFamily="34" charset="0"/>
                <a:ea typeface="Calibri" pitchFamily="34" charset="-122"/>
                <a:cs typeface="Calibri" pitchFamily="34" charset="-120"/>
              </a:rPr>
              <a:t>người dùng rời app tìm quán ngay sau lần tìm kiếm đầu tiên nếu không thấy kết quả phù hợp.</a:t>
            </a:r>
            <a:endParaRPr lang="en-US" sz="1800" dirty="0"/>
          </a:p>
        </p:txBody>
      </p:sp>
      <p:sp>
        <p:nvSpPr>
          <p:cNvPr id="11" name="Text 8"/>
          <p:cNvSpPr/>
          <p:nvPr/>
        </p:nvSpPr>
        <p:spPr>
          <a:xfrm>
            <a:off x="6720840" y="4526280"/>
            <a:ext cx="4800600" cy="365760"/>
          </a:xfrm>
          <a:prstGeom prst="rect">
            <a:avLst/>
          </a:prstGeom>
          <a:noFill/>
          <a:ln/>
        </p:spPr>
        <p:txBody>
          <a:bodyPr wrap="square" lIns="0" tIns="0" rIns="0" bIns="0" rtlCol="0" anchor="ctr"/>
          <a:lstStyle/>
          <a:p>
            <a:pPr indent="0" marL="0">
              <a:buNone/>
            </a:pPr>
            <a:r>
              <a:rPr lang="en-US" sz="1200" i="1" dirty="0">
                <a:solidFill>
                  <a:srgbClr val="5B6573"/>
                </a:solidFill>
                <a:latin typeface="Calibri" pitchFamily="34" charset="0"/>
                <a:ea typeface="Calibri" pitchFamily="34" charset="-122"/>
                <a:cs typeface="Calibri" pitchFamily="34" charset="-120"/>
              </a:rPr>
              <a:t>Nielsen Norman Group, 2023</a:t>
            </a:r>
            <a:endParaRPr lang="en-US" sz="1200" dirty="0"/>
          </a:p>
        </p:txBody>
      </p:sp>
      <p:sp>
        <p:nvSpPr>
          <p:cNvPr id="12" name="Shape 9"/>
          <p:cNvSpPr/>
          <p:nvPr/>
        </p:nvSpPr>
        <p:spPr>
          <a:xfrm>
            <a:off x="640080" y="5532120"/>
            <a:ext cx="10908792" cy="868680"/>
          </a:xfrm>
          <a:prstGeom prst="rect">
            <a:avLst/>
          </a:prstGeom>
          <a:solidFill>
            <a:srgbClr val="16243F"/>
          </a:solidFill>
          <a:ln/>
        </p:spPr>
      </p:sp>
      <p:sp>
        <p:nvSpPr>
          <p:cNvPr id="13" name="Text 10"/>
          <p:cNvSpPr/>
          <p:nvPr/>
        </p:nvSpPr>
        <p:spPr>
          <a:xfrm>
            <a:off x="960120" y="5532120"/>
            <a:ext cx="10332720" cy="868680"/>
          </a:xfrm>
          <a:prstGeom prst="rect">
            <a:avLst/>
          </a:prstGeom>
          <a:noFill/>
          <a:ln/>
        </p:spPr>
        <p:txBody>
          <a:bodyPr wrap="square" lIns="0" tIns="0" rIns="0" bIns="0" rtlCol="0" anchor="ctr"/>
          <a:lstStyle/>
          <a:p>
            <a:pPr indent="0" marL="0">
              <a:buNone/>
            </a:pPr>
            <a:r>
              <a:rPr lang="en-US" sz="1600" b="1" dirty="0">
                <a:solidFill>
                  <a:srgbClr val="F2A03D"/>
                </a:solidFill>
                <a:latin typeface="Calibri" pitchFamily="34" charset="0"/>
                <a:ea typeface="Calibri" pitchFamily="34" charset="-122"/>
                <a:cs typeface="Calibri" pitchFamily="34" charset="-120"/>
              </a:rPr>
              <a:t>Insight:  </a:t>
            </a:r>
            <a:pPr indent="0" marL="0">
              <a:buNone/>
            </a:pPr>
            <a:r>
              <a:rPr lang="en-US" sz="1600" dirty="0">
                <a:solidFill>
                  <a:srgbClr val="FFFFFF"/>
                </a:solidFill>
                <a:latin typeface="Calibri" pitchFamily="34" charset="0"/>
                <a:ea typeface="Calibri" pitchFamily="34" charset="-122"/>
                <a:cs typeface="Calibri" pitchFamily="34" charset="-120"/>
              </a:rPr>
              <a:t>Người đến nơi lạ thiếu “trust signal” cao nhất — một người địa phương rành khu vực biết hỏi đúng câu.</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881360" cy="292608"/>
          </a:xfrm>
          <a:prstGeom prst="rect">
            <a:avLst/>
          </a:prstGeom>
          <a:noFill/>
          <a:ln/>
        </p:spPr>
        <p:txBody>
          <a:bodyPr wrap="square" lIns="0" tIns="0" rIns="0" bIns="0" rtlCol="0" anchor="ctr"/>
          <a:lstStyle/>
          <a:p>
            <a:pPr algn="l" indent="0" marL="0">
              <a:buNone/>
            </a:pPr>
            <a:r>
              <a:rPr lang="en-US" sz="1300" b="1" spc="300" kern="0" dirty="0">
                <a:solidFill>
                  <a:srgbClr val="EF5B3C"/>
                </a:solidFill>
                <a:latin typeface="Calibri" pitchFamily="34" charset="0"/>
                <a:ea typeface="Calibri" pitchFamily="34" charset="-122"/>
                <a:cs typeface="Calibri" pitchFamily="34" charset="-120"/>
              </a:rPr>
              <a:t>02 · GIẢI PHÁP</a:t>
            </a:r>
            <a:endParaRPr lang="en-US" sz="1300" dirty="0"/>
          </a:p>
        </p:txBody>
      </p:sp>
      <p:sp>
        <p:nvSpPr>
          <p:cNvPr id="3" name="Text 1"/>
          <p:cNvSpPr/>
          <p:nvPr/>
        </p:nvSpPr>
        <p:spPr>
          <a:xfrm>
            <a:off x="640080" y="749808"/>
            <a:ext cx="10881360" cy="868680"/>
          </a:xfrm>
          <a:prstGeom prst="rect">
            <a:avLst/>
          </a:prstGeom>
          <a:noFill/>
          <a:ln/>
        </p:spPr>
        <p:txBody>
          <a:bodyPr wrap="square" lIns="0" tIns="0" rIns="0" bIns="0" rtlCol="0" anchor="t"/>
          <a:lstStyle/>
          <a:p>
            <a:pPr algn="l" indent="0" marL="0">
              <a:buNone/>
            </a:pPr>
            <a:r>
              <a:rPr lang="en-US" sz="3300" b="1" dirty="0">
                <a:solidFill>
                  <a:srgbClr val="16243F"/>
                </a:solidFill>
                <a:latin typeface="Georgia" pitchFamily="34" charset="0"/>
                <a:ea typeface="Georgia" pitchFamily="34" charset="-122"/>
                <a:cs typeface="Georgia" pitchFamily="34" charset="-120"/>
              </a:rPr>
              <a:t>AI Local Guide: hỏi đúng, gợi ý đúng</a:t>
            </a:r>
            <a:endParaRPr lang="en-US" sz="3300" dirty="0"/>
          </a:p>
        </p:txBody>
      </p:sp>
      <p:sp>
        <p:nvSpPr>
          <p:cNvPr id="4" name="Text 2"/>
          <p:cNvSpPr/>
          <p:nvPr/>
        </p:nvSpPr>
        <p:spPr>
          <a:xfrm>
            <a:off x="640080" y="1508760"/>
            <a:ext cx="10881360" cy="411480"/>
          </a:xfrm>
          <a:prstGeom prst="rect">
            <a:avLst/>
          </a:prstGeom>
          <a:noFill/>
          <a:ln/>
        </p:spPr>
        <p:txBody>
          <a:bodyPr wrap="square" lIns="0" tIns="0" rIns="0" bIns="0" rtlCol="0" anchor="ctr"/>
          <a:lstStyle/>
          <a:p>
            <a:pPr indent="0" marL="0">
              <a:buNone/>
            </a:pPr>
            <a:r>
              <a:rPr lang="en-US" sz="1700" dirty="0">
                <a:solidFill>
                  <a:srgbClr val="5B6573"/>
                </a:solidFill>
                <a:latin typeface="Calibri" pitchFamily="34" charset="0"/>
                <a:ea typeface="Calibri" pitchFamily="34" charset="-122"/>
                <a:cs typeface="Calibri" pitchFamily="34" charset="-120"/>
              </a:rPr>
              <a:t>Đóng vai người địa phương rành khu vực mà người mới đến không có.</a:t>
            </a:r>
            <a:endParaRPr lang="en-US" sz="1700" dirty="0"/>
          </a:p>
        </p:txBody>
      </p:sp>
      <p:sp>
        <p:nvSpPr>
          <p:cNvPr id="5" name="Shape 3"/>
          <p:cNvSpPr/>
          <p:nvPr/>
        </p:nvSpPr>
        <p:spPr>
          <a:xfrm>
            <a:off x="640080" y="2240280"/>
            <a:ext cx="3456432" cy="3063240"/>
          </a:xfrm>
          <a:prstGeom prst="rect">
            <a:avLst/>
          </a:prstGeom>
          <a:solidFill>
            <a:srgbClr val="F5F6F8"/>
          </a:solidFill>
          <a:ln w="12700">
            <a:solidFill>
              <a:srgbClr val="E3E6EC"/>
            </a:solidFill>
            <a:prstDash val="solid"/>
          </a:ln>
          <a:effectLst>
            <a:outerShdw sx="100000" sy="100000" kx="0" ky="0" algn="bl" rotWithShape="0" blurRad="101600" dist="38100" dir="8100000">
              <a:srgbClr val="000000">
                <a:alpha val="16000"/>
              </a:srgbClr>
            </a:outerShdw>
          </a:effectLst>
        </p:spPr>
      </p:sp>
      <p:sp>
        <p:nvSpPr>
          <p:cNvPr id="6" name="Shape 4"/>
          <p:cNvSpPr/>
          <p:nvPr/>
        </p:nvSpPr>
        <p:spPr>
          <a:xfrm>
            <a:off x="640080" y="2240280"/>
            <a:ext cx="3456432" cy="109728"/>
          </a:xfrm>
          <a:prstGeom prst="rect">
            <a:avLst/>
          </a:prstGeom>
          <a:solidFill>
            <a:srgbClr val="EF5B3C"/>
          </a:solidFill>
          <a:ln/>
        </p:spPr>
      </p:sp>
      <p:sp>
        <p:nvSpPr>
          <p:cNvPr id="7" name="Shape 5"/>
          <p:cNvSpPr/>
          <p:nvPr/>
        </p:nvSpPr>
        <p:spPr>
          <a:xfrm>
            <a:off x="1005840" y="2651760"/>
            <a:ext cx="914400" cy="914400"/>
          </a:xfrm>
          <a:prstGeom prst="ellipse">
            <a:avLst/>
          </a:prstGeom>
          <a:solidFill>
            <a:srgbClr val="EF5B3C"/>
          </a:solidFill>
          <a:ln/>
          <a:effectLst>
            <a:outerShdw sx="100000" sy="100000" kx="0" ky="0" algn="bl" rotWithShape="0" blurRad="101600" dist="38100" dir="8100000">
              <a:srgbClr val="000000">
                <a:alpha val="16000"/>
              </a:srgbClr>
            </a:outerShdw>
          </a:effectLst>
        </p:spPr>
      </p:sp>
      <p:pic>
        <p:nvPicPr>
          <p:cNvPr id="8" name="Image 0" descr="preencoded.png">    </p:cNvPr>
          <p:cNvPicPr>
            <a:picLocks noChangeAspect="1"/>
          </p:cNvPicPr>
          <p:nvPr/>
        </p:nvPicPr>
        <p:blipFill>
          <a:blip r:embed="rId1"/>
          <a:stretch>
            <a:fillRect/>
          </a:stretch>
        </p:blipFill>
        <p:spPr>
          <a:xfrm>
            <a:off x="1252728" y="2898648"/>
            <a:ext cx="420624" cy="420624"/>
          </a:xfrm>
          <a:prstGeom prst="rect">
            <a:avLst/>
          </a:prstGeom>
        </p:spPr>
      </p:pic>
      <p:sp>
        <p:nvSpPr>
          <p:cNvPr id="9" name="Text 6"/>
          <p:cNvSpPr/>
          <p:nvPr/>
        </p:nvSpPr>
        <p:spPr>
          <a:xfrm>
            <a:off x="2862072" y="2651760"/>
            <a:ext cx="1051560" cy="640080"/>
          </a:xfrm>
          <a:prstGeom prst="rect">
            <a:avLst/>
          </a:prstGeom>
          <a:noFill/>
          <a:ln/>
        </p:spPr>
        <p:txBody>
          <a:bodyPr wrap="square" lIns="0" tIns="0" rIns="0" bIns="0" rtlCol="0" anchor="ctr"/>
          <a:lstStyle/>
          <a:p>
            <a:pPr algn="r" indent="0" marL="0">
              <a:buNone/>
            </a:pPr>
            <a:r>
              <a:rPr lang="en-US" sz="3800" b="1" dirty="0">
                <a:solidFill>
                  <a:srgbClr val="E3E6EC"/>
                </a:solidFill>
                <a:latin typeface="Georgia" pitchFamily="34" charset="0"/>
                <a:ea typeface="Georgia" pitchFamily="34" charset="-122"/>
                <a:cs typeface="Georgia" pitchFamily="34" charset="-120"/>
              </a:rPr>
              <a:t>01</a:t>
            </a:r>
            <a:endParaRPr lang="en-US" sz="3800" dirty="0"/>
          </a:p>
        </p:txBody>
      </p:sp>
      <p:sp>
        <p:nvSpPr>
          <p:cNvPr id="10" name="Text 7"/>
          <p:cNvSpPr/>
          <p:nvPr/>
        </p:nvSpPr>
        <p:spPr>
          <a:xfrm>
            <a:off x="1005840" y="3749040"/>
            <a:ext cx="2724912" cy="457200"/>
          </a:xfrm>
          <a:prstGeom prst="rect">
            <a:avLst/>
          </a:prstGeom>
          <a:noFill/>
          <a:ln/>
        </p:spPr>
        <p:txBody>
          <a:bodyPr wrap="square" lIns="0" tIns="0" rIns="0" bIns="0" rtlCol="0" anchor="ctr"/>
          <a:lstStyle/>
          <a:p>
            <a:pPr indent="0" marL="0">
              <a:buNone/>
            </a:pPr>
            <a:r>
              <a:rPr lang="en-US" sz="2100" b="1" dirty="0">
                <a:solidFill>
                  <a:srgbClr val="16243F"/>
                </a:solidFill>
                <a:latin typeface="Georgia" pitchFamily="34" charset="0"/>
                <a:ea typeface="Georgia" pitchFamily="34" charset="-122"/>
                <a:cs typeface="Georgia" pitchFamily="34" charset="-120"/>
              </a:rPr>
              <a:t>4 câu MCQ</a:t>
            </a:r>
            <a:endParaRPr lang="en-US" sz="2100" dirty="0"/>
          </a:p>
        </p:txBody>
      </p:sp>
      <p:sp>
        <p:nvSpPr>
          <p:cNvPr id="11" name="Text 8"/>
          <p:cNvSpPr/>
          <p:nvPr/>
        </p:nvSpPr>
        <p:spPr>
          <a:xfrm>
            <a:off x="1005840" y="4251960"/>
            <a:ext cx="2724912" cy="914400"/>
          </a:xfrm>
          <a:prstGeom prst="rect">
            <a:avLst/>
          </a:prstGeom>
          <a:noFill/>
          <a:ln/>
        </p:spPr>
        <p:txBody>
          <a:bodyPr wrap="square" lIns="0" tIns="0" rIns="0" bIns="0" rtlCol="0" anchor="ctr"/>
          <a:lstStyle/>
          <a:p>
            <a:pPr indent="0" marL="0">
              <a:lnSpc>
                <a:spcPct val="110000"/>
              </a:lnSpc>
              <a:buNone/>
            </a:pPr>
            <a:r>
              <a:rPr lang="en-US" sz="1450" dirty="0">
                <a:solidFill>
                  <a:srgbClr val="20283A"/>
                </a:solidFill>
                <a:latin typeface="Calibri" pitchFamily="34" charset="0"/>
                <a:ea typeface="Calibri" pitchFamily="34" charset="-122"/>
                <a:cs typeface="Calibri" pitchFamily="34" charset="-120"/>
              </a:rPr>
              <a:t>Chỉ chạm để chọn: bữa nào, đi với ai, phong cách, yêu cầu đặc biệt. Không phải gõ chữ nào.</a:t>
            </a:r>
            <a:endParaRPr lang="en-US" sz="1450" dirty="0"/>
          </a:p>
        </p:txBody>
      </p:sp>
      <p:pic>
        <p:nvPicPr>
          <p:cNvPr id="12" name="Image 1" descr="preencoded.png">    </p:cNvPr>
          <p:cNvPicPr>
            <a:picLocks noChangeAspect="1"/>
          </p:cNvPicPr>
          <p:nvPr/>
        </p:nvPicPr>
        <p:blipFill>
          <a:blip r:embed="rId2"/>
          <a:stretch>
            <a:fillRect/>
          </a:stretch>
        </p:blipFill>
        <p:spPr>
          <a:xfrm>
            <a:off x="4073652" y="3616452"/>
            <a:ext cx="310896" cy="310896"/>
          </a:xfrm>
          <a:prstGeom prst="rect">
            <a:avLst/>
          </a:prstGeom>
        </p:spPr>
      </p:pic>
      <p:sp>
        <p:nvSpPr>
          <p:cNvPr id="13" name="Shape 9"/>
          <p:cNvSpPr/>
          <p:nvPr/>
        </p:nvSpPr>
        <p:spPr>
          <a:xfrm>
            <a:off x="4361688" y="2240280"/>
            <a:ext cx="3456432" cy="3063240"/>
          </a:xfrm>
          <a:prstGeom prst="rect">
            <a:avLst/>
          </a:prstGeom>
          <a:solidFill>
            <a:srgbClr val="F5F6F8"/>
          </a:solidFill>
          <a:ln w="12700">
            <a:solidFill>
              <a:srgbClr val="E3E6EC"/>
            </a:solidFill>
            <a:prstDash val="solid"/>
          </a:ln>
          <a:effectLst>
            <a:outerShdw sx="100000" sy="100000" kx="0" ky="0" algn="bl" rotWithShape="0" blurRad="101600" dist="38100" dir="8100000">
              <a:srgbClr val="000000">
                <a:alpha val="16000"/>
              </a:srgbClr>
            </a:outerShdw>
          </a:effectLst>
        </p:spPr>
      </p:sp>
      <p:sp>
        <p:nvSpPr>
          <p:cNvPr id="14" name="Shape 10"/>
          <p:cNvSpPr/>
          <p:nvPr/>
        </p:nvSpPr>
        <p:spPr>
          <a:xfrm>
            <a:off x="4361688" y="2240280"/>
            <a:ext cx="3456432" cy="109728"/>
          </a:xfrm>
          <a:prstGeom prst="rect">
            <a:avLst/>
          </a:prstGeom>
          <a:solidFill>
            <a:srgbClr val="F2A03D"/>
          </a:solidFill>
          <a:ln/>
        </p:spPr>
      </p:sp>
      <p:sp>
        <p:nvSpPr>
          <p:cNvPr id="15" name="Shape 11"/>
          <p:cNvSpPr/>
          <p:nvPr/>
        </p:nvSpPr>
        <p:spPr>
          <a:xfrm>
            <a:off x="4727448" y="2651760"/>
            <a:ext cx="914400" cy="914400"/>
          </a:xfrm>
          <a:prstGeom prst="ellipse">
            <a:avLst/>
          </a:prstGeom>
          <a:solidFill>
            <a:srgbClr val="F2A03D"/>
          </a:solidFill>
          <a:ln/>
          <a:effectLst>
            <a:outerShdw sx="100000" sy="100000" kx="0" ky="0" algn="bl" rotWithShape="0" blurRad="101600" dist="38100" dir="8100000">
              <a:srgbClr val="000000">
                <a:alpha val="16000"/>
              </a:srgbClr>
            </a:outerShdw>
          </a:effectLst>
        </p:spPr>
      </p:sp>
      <p:pic>
        <p:nvPicPr>
          <p:cNvPr id="16" name="Image 2" descr="preencoded.png">    </p:cNvPr>
          <p:cNvPicPr>
            <a:picLocks noChangeAspect="1"/>
          </p:cNvPicPr>
          <p:nvPr/>
        </p:nvPicPr>
        <p:blipFill>
          <a:blip r:embed="rId3"/>
          <a:stretch>
            <a:fillRect/>
          </a:stretch>
        </p:blipFill>
        <p:spPr>
          <a:xfrm>
            <a:off x="4974336" y="2898648"/>
            <a:ext cx="420624" cy="420624"/>
          </a:xfrm>
          <a:prstGeom prst="rect">
            <a:avLst/>
          </a:prstGeom>
        </p:spPr>
      </p:pic>
      <p:sp>
        <p:nvSpPr>
          <p:cNvPr id="17" name="Text 12"/>
          <p:cNvSpPr/>
          <p:nvPr/>
        </p:nvSpPr>
        <p:spPr>
          <a:xfrm>
            <a:off x="6583680" y="2651760"/>
            <a:ext cx="1051560" cy="640080"/>
          </a:xfrm>
          <a:prstGeom prst="rect">
            <a:avLst/>
          </a:prstGeom>
          <a:noFill/>
          <a:ln/>
        </p:spPr>
        <p:txBody>
          <a:bodyPr wrap="square" lIns="0" tIns="0" rIns="0" bIns="0" rtlCol="0" anchor="ctr"/>
          <a:lstStyle/>
          <a:p>
            <a:pPr algn="r" indent="0" marL="0">
              <a:buNone/>
            </a:pPr>
            <a:r>
              <a:rPr lang="en-US" sz="3800" b="1" dirty="0">
                <a:solidFill>
                  <a:srgbClr val="E3E6EC"/>
                </a:solidFill>
                <a:latin typeface="Georgia" pitchFamily="34" charset="0"/>
                <a:ea typeface="Georgia" pitchFamily="34" charset="-122"/>
                <a:cs typeface="Georgia" pitchFamily="34" charset="-120"/>
              </a:rPr>
              <a:t>02</a:t>
            </a:r>
            <a:endParaRPr lang="en-US" sz="3800" dirty="0"/>
          </a:p>
        </p:txBody>
      </p:sp>
      <p:sp>
        <p:nvSpPr>
          <p:cNvPr id="18" name="Text 13"/>
          <p:cNvSpPr/>
          <p:nvPr/>
        </p:nvSpPr>
        <p:spPr>
          <a:xfrm>
            <a:off x="4727448" y="3749040"/>
            <a:ext cx="2724912" cy="457200"/>
          </a:xfrm>
          <a:prstGeom prst="rect">
            <a:avLst/>
          </a:prstGeom>
          <a:noFill/>
          <a:ln/>
        </p:spPr>
        <p:txBody>
          <a:bodyPr wrap="square" lIns="0" tIns="0" rIns="0" bIns="0" rtlCol="0" anchor="ctr"/>
          <a:lstStyle/>
          <a:p>
            <a:pPr indent="0" marL="0">
              <a:buNone/>
            </a:pPr>
            <a:r>
              <a:rPr lang="en-US" sz="2100" b="1" dirty="0">
                <a:solidFill>
                  <a:srgbClr val="16243F"/>
                </a:solidFill>
                <a:latin typeface="Georgia" pitchFamily="34" charset="0"/>
                <a:ea typeface="Georgia" pitchFamily="34" charset="-122"/>
                <a:cs typeface="Georgia" pitchFamily="34" charset="-120"/>
              </a:rPr>
              <a:t>AI tổng hợp</a:t>
            </a:r>
            <a:endParaRPr lang="en-US" sz="2100" dirty="0"/>
          </a:p>
        </p:txBody>
      </p:sp>
      <p:sp>
        <p:nvSpPr>
          <p:cNvPr id="19" name="Text 14"/>
          <p:cNvSpPr/>
          <p:nvPr/>
        </p:nvSpPr>
        <p:spPr>
          <a:xfrm>
            <a:off x="4727448" y="4251960"/>
            <a:ext cx="2724912" cy="914400"/>
          </a:xfrm>
          <a:prstGeom prst="rect">
            <a:avLst/>
          </a:prstGeom>
          <a:noFill/>
          <a:ln/>
        </p:spPr>
        <p:txBody>
          <a:bodyPr wrap="square" lIns="0" tIns="0" rIns="0" bIns="0" rtlCol="0" anchor="ctr"/>
          <a:lstStyle/>
          <a:p>
            <a:pPr indent="0" marL="0">
              <a:lnSpc>
                <a:spcPct val="110000"/>
              </a:lnSpc>
              <a:buNone/>
            </a:pPr>
            <a:r>
              <a:rPr lang="en-US" sz="1450" dirty="0">
                <a:solidFill>
                  <a:srgbClr val="20283A"/>
                </a:solidFill>
                <a:latin typeface="Calibri" pitchFamily="34" charset="0"/>
                <a:ea typeface="Calibri" pitchFamily="34" charset="-122"/>
                <a:cs typeface="Calibri" pitchFamily="34" charset="-120"/>
              </a:rPr>
              <a:t>AI dựng profile bữa ăn, rồi lọc và xếp hạng các quán quanh vị trí thật của bạn.</a:t>
            </a:r>
            <a:endParaRPr lang="en-US" sz="1450" dirty="0"/>
          </a:p>
        </p:txBody>
      </p:sp>
      <p:pic>
        <p:nvPicPr>
          <p:cNvPr id="20" name="Image 3" descr="preencoded.png">    </p:cNvPr>
          <p:cNvPicPr>
            <a:picLocks noChangeAspect="1"/>
          </p:cNvPicPr>
          <p:nvPr/>
        </p:nvPicPr>
        <p:blipFill>
          <a:blip r:embed="rId4"/>
          <a:stretch>
            <a:fillRect/>
          </a:stretch>
        </p:blipFill>
        <p:spPr>
          <a:xfrm>
            <a:off x="7795260" y="3616452"/>
            <a:ext cx="310896" cy="310896"/>
          </a:xfrm>
          <a:prstGeom prst="rect">
            <a:avLst/>
          </a:prstGeom>
        </p:spPr>
      </p:pic>
      <p:sp>
        <p:nvSpPr>
          <p:cNvPr id="21" name="Shape 15"/>
          <p:cNvSpPr/>
          <p:nvPr/>
        </p:nvSpPr>
        <p:spPr>
          <a:xfrm>
            <a:off x="8083296" y="2240280"/>
            <a:ext cx="3456432" cy="3063240"/>
          </a:xfrm>
          <a:prstGeom prst="rect">
            <a:avLst/>
          </a:prstGeom>
          <a:solidFill>
            <a:srgbClr val="F5F6F8"/>
          </a:solidFill>
          <a:ln w="12700">
            <a:solidFill>
              <a:srgbClr val="E3E6EC"/>
            </a:solidFill>
            <a:prstDash val="solid"/>
          </a:ln>
          <a:effectLst>
            <a:outerShdw sx="100000" sy="100000" kx="0" ky="0" algn="bl" rotWithShape="0" blurRad="101600" dist="38100" dir="8100000">
              <a:srgbClr val="000000">
                <a:alpha val="16000"/>
              </a:srgbClr>
            </a:outerShdw>
          </a:effectLst>
        </p:spPr>
      </p:sp>
      <p:sp>
        <p:nvSpPr>
          <p:cNvPr id="22" name="Shape 16"/>
          <p:cNvSpPr/>
          <p:nvPr/>
        </p:nvSpPr>
        <p:spPr>
          <a:xfrm>
            <a:off x="8083296" y="2240280"/>
            <a:ext cx="3456432" cy="109728"/>
          </a:xfrm>
          <a:prstGeom prst="rect">
            <a:avLst/>
          </a:prstGeom>
          <a:solidFill>
            <a:srgbClr val="1B9E8A"/>
          </a:solidFill>
          <a:ln/>
        </p:spPr>
      </p:sp>
      <p:sp>
        <p:nvSpPr>
          <p:cNvPr id="23" name="Shape 17"/>
          <p:cNvSpPr/>
          <p:nvPr/>
        </p:nvSpPr>
        <p:spPr>
          <a:xfrm>
            <a:off x="8449056" y="2651760"/>
            <a:ext cx="914400" cy="914400"/>
          </a:xfrm>
          <a:prstGeom prst="ellipse">
            <a:avLst/>
          </a:prstGeom>
          <a:solidFill>
            <a:srgbClr val="1B9E8A"/>
          </a:solidFill>
          <a:ln/>
          <a:effectLst>
            <a:outerShdw sx="100000" sy="100000" kx="0" ky="0" algn="bl" rotWithShape="0" blurRad="101600" dist="38100" dir="8100000">
              <a:srgbClr val="000000">
                <a:alpha val="16000"/>
              </a:srgbClr>
            </a:outerShdw>
          </a:effectLst>
        </p:spPr>
      </p:sp>
      <p:pic>
        <p:nvPicPr>
          <p:cNvPr id="24" name="Image 4" descr="preencoded.png">    </p:cNvPr>
          <p:cNvPicPr>
            <a:picLocks noChangeAspect="1"/>
          </p:cNvPicPr>
          <p:nvPr/>
        </p:nvPicPr>
        <p:blipFill>
          <a:blip r:embed="rId5"/>
          <a:stretch>
            <a:fillRect/>
          </a:stretch>
        </p:blipFill>
        <p:spPr>
          <a:xfrm>
            <a:off x="8695944" y="2898648"/>
            <a:ext cx="420624" cy="420624"/>
          </a:xfrm>
          <a:prstGeom prst="rect">
            <a:avLst/>
          </a:prstGeom>
        </p:spPr>
      </p:pic>
      <p:sp>
        <p:nvSpPr>
          <p:cNvPr id="25" name="Text 18"/>
          <p:cNvSpPr/>
          <p:nvPr/>
        </p:nvSpPr>
        <p:spPr>
          <a:xfrm>
            <a:off x="10305288" y="2651760"/>
            <a:ext cx="1051560" cy="640080"/>
          </a:xfrm>
          <a:prstGeom prst="rect">
            <a:avLst/>
          </a:prstGeom>
          <a:noFill/>
          <a:ln/>
        </p:spPr>
        <p:txBody>
          <a:bodyPr wrap="square" lIns="0" tIns="0" rIns="0" bIns="0" rtlCol="0" anchor="ctr"/>
          <a:lstStyle/>
          <a:p>
            <a:pPr algn="r" indent="0" marL="0">
              <a:buNone/>
            </a:pPr>
            <a:r>
              <a:rPr lang="en-US" sz="3800" b="1" dirty="0">
                <a:solidFill>
                  <a:srgbClr val="E3E6EC"/>
                </a:solidFill>
                <a:latin typeface="Georgia" pitchFamily="34" charset="0"/>
                <a:ea typeface="Georgia" pitchFamily="34" charset="-122"/>
                <a:cs typeface="Georgia" pitchFamily="34" charset="-120"/>
              </a:rPr>
              <a:t>03</a:t>
            </a:r>
            <a:endParaRPr lang="en-US" sz="3800" dirty="0"/>
          </a:p>
        </p:txBody>
      </p:sp>
      <p:sp>
        <p:nvSpPr>
          <p:cNvPr id="26" name="Text 19"/>
          <p:cNvSpPr/>
          <p:nvPr/>
        </p:nvSpPr>
        <p:spPr>
          <a:xfrm>
            <a:off x="8449056" y="3749040"/>
            <a:ext cx="2724912" cy="457200"/>
          </a:xfrm>
          <a:prstGeom prst="rect">
            <a:avLst/>
          </a:prstGeom>
          <a:noFill/>
          <a:ln/>
        </p:spPr>
        <p:txBody>
          <a:bodyPr wrap="square" lIns="0" tIns="0" rIns="0" bIns="0" rtlCol="0" anchor="ctr"/>
          <a:lstStyle/>
          <a:p>
            <a:pPr indent="0" marL="0">
              <a:buNone/>
            </a:pPr>
            <a:r>
              <a:rPr lang="en-US" sz="2100" b="1" dirty="0">
                <a:solidFill>
                  <a:srgbClr val="16243F"/>
                </a:solidFill>
                <a:latin typeface="Georgia" pitchFamily="34" charset="0"/>
                <a:ea typeface="Georgia" pitchFamily="34" charset="-122"/>
                <a:cs typeface="Georgia" pitchFamily="34" charset="-120"/>
              </a:rPr>
              <a:t>3 quán + lý do</a:t>
            </a:r>
            <a:endParaRPr lang="en-US" sz="2100" dirty="0"/>
          </a:p>
        </p:txBody>
      </p:sp>
      <p:sp>
        <p:nvSpPr>
          <p:cNvPr id="27" name="Text 20"/>
          <p:cNvSpPr/>
          <p:nvPr/>
        </p:nvSpPr>
        <p:spPr>
          <a:xfrm>
            <a:off x="8449056" y="4251960"/>
            <a:ext cx="2724912" cy="914400"/>
          </a:xfrm>
          <a:prstGeom prst="rect">
            <a:avLst/>
          </a:prstGeom>
          <a:noFill/>
          <a:ln/>
        </p:spPr>
        <p:txBody>
          <a:bodyPr wrap="square" lIns="0" tIns="0" rIns="0" bIns="0" rtlCol="0" anchor="ctr"/>
          <a:lstStyle/>
          <a:p>
            <a:pPr indent="0" marL="0">
              <a:lnSpc>
                <a:spcPct val="110000"/>
              </a:lnSpc>
              <a:buNone/>
            </a:pPr>
            <a:r>
              <a:rPr lang="en-US" sz="1450" dirty="0">
                <a:solidFill>
                  <a:srgbClr val="20283A"/>
                </a:solidFill>
                <a:latin typeface="Calibri" pitchFamily="34" charset="0"/>
                <a:ea typeface="Calibri" pitchFamily="34" charset="-122"/>
                <a:cs typeface="Calibri" pitchFamily="34" charset="-120"/>
              </a:rPr>
              <a:t>Trả về đúng 3 gợi ý, mỗi quán kèm một câu lý do vì sao hợp với bạn.</a:t>
            </a:r>
            <a:endParaRPr lang="en-US" sz="1450" dirty="0"/>
          </a:p>
        </p:txBody>
      </p:sp>
      <p:sp>
        <p:nvSpPr>
          <p:cNvPr id="28" name="Shape 21"/>
          <p:cNvSpPr/>
          <p:nvPr/>
        </p:nvSpPr>
        <p:spPr>
          <a:xfrm>
            <a:off x="640080" y="5715000"/>
            <a:ext cx="2468880" cy="566928"/>
          </a:xfrm>
          <a:prstGeom prst="roundRect">
            <a:avLst>
              <a:gd name="adj" fmla="val 50000"/>
            </a:avLst>
          </a:prstGeom>
          <a:solidFill>
            <a:srgbClr val="FFFFFF"/>
          </a:solidFill>
          <a:ln w="15875">
            <a:solidFill>
              <a:srgbClr val="EF5B3C"/>
            </a:solidFill>
            <a:prstDash val="solid"/>
          </a:ln>
        </p:spPr>
      </p:sp>
      <p:sp>
        <p:nvSpPr>
          <p:cNvPr id="29" name="Text 22"/>
          <p:cNvSpPr/>
          <p:nvPr/>
        </p:nvSpPr>
        <p:spPr>
          <a:xfrm>
            <a:off x="640080" y="5715000"/>
            <a:ext cx="2468880" cy="566928"/>
          </a:xfrm>
          <a:prstGeom prst="rect">
            <a:avLst/>
          </a:prstGeom>
          <a:noFill/>
          <a:ln/>
        </p:spPr>
        <p:txBody>
          <a:bodyPr wrap="square" lIns="0" tIns="0" rIns="0" bIns="0" rtlCol="0" anchor="ctr"/>
          <a:lstStyle/>
          <a:p>
            <a:pPr algn="ctr" indent="0" marL="0">
              <a:buNone/>
            </a:pPr>
            <a:r>
              <a:rPr lang="en-US" sz="1400" b="1" dirty="0">
                <a:solidFill>
                  <a:srgbClr val="C5421F"/>
                </a:solidFill>
                <a:latin typeface="Calibri" pitchFamily="34" charset="0"/>
                <a:ea typeface="Calibri" pitchFamily="34" charset="-122"/>
                <a:cs typeface="Calibri" pitchFamily="34" charset="-120"/>
              </a:rPr>
              <a:t>Bữa nào?</a:t>
            </a:r>
            <a:endParaRPr lang="en-US" sz="1400" dirty="0"/>
          </a:p>
        </p:txBody>
      </p:sp>
      <p:sp>
        <p:nvSpPr>
          <p:cNvPr id="30" name="Shape 23"/>
          <p:cNvSpPr/>
          <p:nvPr/>
        </p:nvSpPr>
        <p:spPr>
          <a:xfrm>
            <a:off x="3337560" y="5715000"/>
            <a:ext cx="2468880" cy="566928"/>
          </a:xfrm>
          <a:prstGeom prst="roundRect">
            <a:avLst>
              <a:gd name="adj" fmla="val 50000"/>
            </a:avLst>
          </a:prstGeom>
          <a:solidFill>
            <a:srgbClr val="FFFFFF"/>
          </a:solidFill>
          <a:ln w="15875">
            <a:solidFill>
              <a:srgbClr val="EF5B3C"/>
            </a:solidFill>
            <a:prstDash val="solid"/>
          </a:ln>
        </p:spPr>
      </p:sp>
      <p:sp>
        <p:nvSpPr>
          <p:cNvPr id="31" name="Text 24"/>
          <p:cNvSpPr/>
          <p:nvPr/>
        </p:nvSpPr>
        <p:spPr>
          <a:xfrm>
            <a:off x="3337560" y="5715000"/>
            <a:ext cx="2468880" cy="566928"/>
          </a:xfrm>
          <a:prstGeom prst="rect">
            <a:avLst/>
          </a:prstGeom>
          <a:noFill/>
          <a:ln/>
        </p:spPr>
        <p:txBody>
          <a:bodyPr wrap="square" lIns="0" tIns="0" rIns="0" bIns="0" rtlCol="0" anchor="ctr"/>
          <a:lstStyle/>
          <a:p>
            <a:pPr algn="ctr" indent="0" marL="0">
              <a:buNone/>
            </a:pPr>
            <a:r>
              <a:rPr lang="en-US" sz="1400" b="1" dirty="0">
                <a:solidFill>
                  <a:srgbClr val="C5421F"/>
                </a:solidFill>
                <a:latin typeface="Calibri" pitchFamily="34" charset="0"/>
                <a:ea typeface="Calibri" pitchFamily="34" charset="-122"/>
                <a:cs typeface="Calibri" pitchFamily="34" charset="-120"/>
              </a:rPr>
              <a:t>Đi với ai?</a:t>
            </a:r>
            <a:endParaRPr lang="en-US" sz="1400" dirty="0"/>
          </a:p>
        </p:txBody>
      </p:sp>
      <p:sp>
        <p:nvSpPr>
          <p:cNvPr id="32" name="Shape 25"/>
          <p:cNvSpPr/>
          <p:nvPr/>
        </p:nvSpPr>
        <p:spPr>
          <a:xfrm>
            <a:off x="6035040" y="5715000"/>
            <a:ext cx="2468880" cy="566928"/>
          </a:xfrm>
          <a:prstGeom prst="roundRect">
            <a:avLst>
              <a:gd name="adj" fmla="val 50000"/>
            </a:avLst>
          </a:prstGeom>
          <a:solidFill>
            <a:srgbClr val="FFFFFF"/>
          </a:solidFill>
          <a:ln w="15875">
            <a:solidFill>
              <a:srgbClr val="EF5B3C"/>
            </a:solidFill>
            <a:prstDash val="solid"/>
          </a:ln>
        </p:spPr>
      </p:sp>
      <p:sp>
        <p:nvSpPr>
          <p:cNvPr id="33" name="Text 26"/>
          <p:cNvSpPr/>
          <p:nvPr/>
        </p:nvSpPr>
        <p:spPr>
          <a:xfrm>
            <a:off x="6035040" y="5715000"/>
            <a:ext cx="2468880" cy="566928"/>
          </a:xfrm>
          <a:prstGeom prst="rect">
            <a:avLst/>
          </a:prstGeom>
          <a:noFill/>
          <a:ln/>
        </p:spPr>
        <p:txBody>
          <a:bodyPr wrap="square" lIns="0" tIns="0" rIns="0" bIns="0" rtlCol="0" anchor="ctr"/>
          <a:lstStyle/>
          <a:p>
            <a:pPr algn="ctr" indent="0" marL="0">
              <a:buNone/>
            </a:pPr>
            <a:r>
              <a:rPr lang="en-US" sz="1400" b="1" dirty="0">
                <a:solidFill>
                  <a:srgbClr val="C5421F"/>
                </a:solidFill>
                <a:latin typeface="Calibri" pitchFamily="34" charset="0"/>
                <a:ea typeface="Calibri" pitchFamily="34" charset="-122"/>
                <a:cs typeface="Calibri" pitchFamily="34" charset="-120"/>
              </a:rPr>
              <a:t>Phong cách?</a:t>
            </a:r>
            <a:endParaRPr lang="en-US" sz="1400" dirty="0"/>
          </a:p>
        </p:txBody>
      </p:sp>
      <p:sp>
        <p:nvSpPr>
          <p:cNvPr id="34" name="Shape 27"/>
          <p:cNvSpPr/>
          <p:nvPr/>
        </p:nvSpPr>
        <p:spPr>
          <a:xfrm>
            <a:off x="8732520" y="5715000"/>
            <a:ext cx="2468880" cy="566928"/>
          </a:xfrm>
          <a:prstGeom prst="roundRect">
            <a:avLst>
              <a:gd name="adj" fmla="val 50000"/>
            </a:avLst>
          </a:prstGeom>
          <a:solidFill>
            <a:srgbClr val="FFFFFF"/>
          </a:solidFill>
          <a:ln w="15875">
            <a:solidFill>
              <a:srgbClr val="EF5B3C"/>
            </a:solidFill>
            <a:prstDash val="solid"/>
          </a:ln>
        </p:spPr>
      </p:sp>
      <p:sp>
        <p:nvSpPr>
          <p:cNvPr id="35" name="Text 28"/>
          <p:cNvSpPr/>
          <p:nvPr/>
        </p:nvSpPr>
        <p:spPr>
          <a:xfrm>
            <a:off x="8732520" y="5715000"/>
            <a:ext cx="2468880" cy="566928"/>
          </a:xfrm>
          <a:prstGeom prst="rect">
            <a:avLst/>
          </a:prstGeom>
          <a:noFill/>
          <a:ln/>
        </p:spPr>
        <p:txBody>
          <a:bodyPr wrap="square" lIns="0" tIns="0" rIns="0" bIns="0" rtlCol="0" anchor="ctr"/>
          <a:lstStyle/>
          <a:p>
            <a:pPr algn="ctr" indent="0" marL="0">
              <a:buNone/>
            </a:pPr>
            <a:r>
              <a:rPr lang="en-US" sz="1400" b="1" dirty="0">
                <a:solidFill>
                  <a:srgbClr val="C5421F"/>
                </a:solidFill>
                <a:latin typeface="Calibri" pitchFamily="34" charset="0"/>
                <a:ea typeface="Calibri" pitchFamily="34" charset="-122"/>
                <a:cs typeface="Calibri" pitchFamily="34" charset="-120"/>
              </a:rPr>
              <a:t>Yêu cầu đặc biệt?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243F"/>
        </a:solidFill>
      </p:bgPr>
    </p:bg>
    <p:spTree>
      <p:nvGrpSpPr>
        <p:cNvPr id="1" name=""/>
        <p:cNvGrpSpPr/>
        <p:nvPr/>
      </p:nvGrpSpPr>
      <p:grpSpPr>
        <a:xfrm>
          <a:off x="0" y="0"/>
          <a:ext cx="0" cy="0"/>
          <a:chOff x="0" y="0"/>
          <a:chExt cx="0" cy="0"/>
        </a:xfrm>
      </p:grpSpPr>
      <p:sp>
        <p:nvSpPr>
          <p:cNvPr id="2" name="Text 0"/>
          <p:cNvSpPr/>
          <p:nvPr/>
        </p:nvSpPr>
        <p:spPr>
          <a:xfrm>
            <a:off x="640080" y="420624"/>
            <a:ext cx="10881360" cy="292608"/>
          </a:xfrm>
          <a:prstGeom prst="rect">
            <a:avLst/>
          </a:prstGeom>
          <a:noFill/>
          <a:ln/>
        </p:spPr>
        <p:txBody>
          <a:bodyPr wrap="square" lIns="0" tIns="0" rIns="0" bIns="0" rtlCol="0" anchor="ctr"/>
          <a:lstStyle/>
          <a:p>
            <a:pPr algn="l" indent="0" marL="0">
              <a:buNone/>
            </a:pPr>
            <a:r>
              <a:rPr lang="en-US" sz="1300" b="1" spc="300" kern="0" dirty="0">
                <a:solidFill>
                  <a:srgbClr val="F2A03D"/>
                </a:solidFill>
                <a:latin typeface="Calibri" pitchFamily="34" charset="0"/>
                <a:ea typeface="Calibri" pitchFamily="34" charset="-122"/>
                <a:cs typeface="Calibri" pitchFamily="34" charset="-120"/>
              </a:rPr>
              <a:t>03 · LIVE DEMO</a:t>
            </a:r>
            <a:endParaRPr lang="en-US" sz="1300" dirty="0"/>
          </a:p>
        </p:txBody>
      </p:sp>
      <p:sp>
        <p:nvSpPr>
          <p:cNvPr id="3" name="Text 1"/>
          <p:cNvSpPr/>
          <p:nvPr/>
        </p:nvSpPr>
        <p:spPr>
          <a:xfrm>
            <a:off x="640080" y="749808"/>
            <a:ext cx="10881360" cy="82296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Ngay tại đây — Hà Nội, 12h trưa, đang đói</a:t>
            </a:r>
            <a:endParaRPr lang="en-US" sz="3200" dirty="0"/>
          </a:p>
        </p:txBody>
      </p:sp>
      <p:sp>
        <p:nvSpPr>
          <p:cNvPr id="4" name="Text 2"/>
          <p:cNvSpPr/>
          <p:nvPr/>
        </p:nvSpPr>
        <p:spPr>
          <a:xfrm>
            <a:off x="640080" y="1828800"/>
            <a:ext cx="6035040" cy="960120"/>
          </a:xfrm>
          <a:prstGeom prst="rect">
            <a:avLst/>
          </a:prstGeom>
          <a:noFill/>
          <a:ln/>
        </p:spPr>
        <p:txBody>
          <a:bodyPr wrap="square" lIns="0" tIns="0" rIns="0" bIns="0" rtlCol="0" anchor="ctr"/>
          <a:lstStyle/>
          <a:p>
            <a:pPr indent="0" marL="0">
              <a:lnSpc>
                <a:spcPct val="120000"/>
              </a:lnSpc>
              <a:buNone/>
            </a:pPr>
            <a:r>
              <a:rPr lang="en-US" sz="1800" dirty="0">
                <a:solidFill>
                  <a:srgbClr val="C7D2E6"/>
                </a:solidFill>
                <a:latin typeface="Calibri" pitchFamily="34" charset="0"/>
                <a:ea typeface="Calibri" pitchFamily="34" charset="-122"/>
                <a:cs typeface="Calibri" pitchFamily="34" charset="-120"/>
              </a:rPr>
              <a:t>App bắt vị trí THẬT qua Google, không nhập tay. Bọn em đóng vai một bạn mới tới khu này, chưa quen quán xá.</a:t>
            </a:r>
            <a:endParaRPr lang="en-US" sz="1800" dirty="0"/>
          </a:p>
        </p:txBody>
      </p:sp>
      <p:sp>
        <p:nvSpPr>
          <p:cNvPr id="5" name="Text 3"/>
          <p:cNvSpPr/>
          <p:nvPr/>
        </p:nvSpPr>
        <p:spPr>
          <a:xfrm>
            <a:off x="640080" y="2926080"/>
            <a:ext cx="6035040" cy="365760"/>
          </a:xfrm>
          <a:prstGeom prst="rect">
            <a:avLst/>
          </a:prstGeom>
          <a:noFill/>
          <a:ln/>
        </p:spPr>
        <p:txBody>
          <a:bodyPr wrap="square" lIns="0" tIns="0" rIns="0" bIns="0" rtlCol="0" anchor="ctr"/>
          <a:lstStyle/>
          <a:p>
            <a:pPr indent="0" marL="0">
              <a:buNone/>
            </a:pPr>
            <a:r>
              <a:rPr lang="en-US" sz="1300" b="1" spc="200" kern="0" dirty="0">
                <a:solidFill>
                  <a:srgbClr val="F2A03D"/>
                </a:solidFill>
                <a:latin typeface="Calibri" pitchFamily="34" charset="0"/>
                <a:ea typeface="Calibri" pitchFamily="34" charset="-122"/>
                <a:cs typeface="Calibri" pitchFamily="34" charset="-120"/>
              </a:rPr>
              <a:t>CHỌN 4 MCQ — mỗi câu một chạm:</a:t>
            </a:r>
            <a:endParaRPr lang="en-US" sz="1300" dirty="0"/>
          </a:p>
        </p:txBody>
      </p:sp>
      <p:sp>
        <p:nvSpPr>
          <p:cNvPr id="6" name="Shape 4"/>
          <p:cNvSpPr/>
          <p:nvPr/>
        </p:nvSpPr>
        <p:spPr>
          <a:xfrm>
            <a:off x="640080" y="3383280"/>
            <a:ext cx="2880360" cy="566928"/>
          </a:xfrm>
          <a:prstGeom prst="roundRect">
            <a:avLst>
              <a:gd name="adj" fmla="val 50000"/>
            </a:avLst>
          </a:prstGeom>
          <a:solidFill>
            <a:srgbClr val="20335A"/>
          </a:solidFill>
          <a:ln w="15875">
            <a:solidFill>
              <a:srgbClr val="EF5B3C"/>
            </a:solidFill>
            <a:prstDash val="solid"/>
          </a:ln>
        </p:spPr>
      </p:sp>
      <p:sp>
        <p:nvSpPr>
          <p:cNvPr id="7" name="Text 5"/>
          <p:cNvSpPr/>
          <p:nvPr/>
        </p:nvSpPr>
        <p:spPr>
          <a:xfrm>
            <a:off x="640080" y="3383280"/>
            <a:ext cx="2880360" cy="566928"/>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Trưa</a:t>
            </a:r>
            <a:endParaRPr lang="en-US" sz="1450" dirty="0"/>
          </a:p>
        </p:txBody>
      </p:sp>
      <p:sp>
        <p:nvSpPr>
          <p:cNvPr id="8" name="Shape 6"/>
          <p:cNvSpPr/>
          <p:nvPr/>
        </p:nvSpPr>
        <p:spPr>
          <a:xfrm>
            <a:off x="3749040" y="3383280"/>
            <a:ext cx="2880360" cy="566928"/>
          </a:xfrm>
          <a:prstGeom prst="roundRect">
            <a:avLst>
              <a:gd name="adj" fmla="val 50000"/>
            </a:avLst>
          </a:prstGeom>
          <a:solidFill>
            <a:srgbClr val="20335A"/>
          </a:solidFill>
          <a:ln w="15875">
            <a:solidFill>
              <a:srgbClr val="EF5B3C"/>
            </a:solidFill>
            <a:prstDash val="solid"/>
          </a:ln>
        </p:spPr>
      </p:sp>
      <p:sp>
        <p:nvSpPr>
          <p:cNvPr id="9" name="Text 7"/>
          <p:cNvSpPr/>
          <p:nvPr/>
        </p:nvSpPr>
        <p:spPr>
          <a:xfrm>
            <a:off x="3749040" y="3383280"/>
            <a:ext cx="2880360" cy="566928"/>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Một mình</a:t>
            </a:r>
            <a:endParaRPr lang="en-US" sz="1450" dirty="0"/>
          </a:p>
        </p:txBody>
      </p:sp>
      <p:sp>
        <p:nvSpPr>
          <p:cNvPr id="10" name="Shape 8"/>
          <p:cNvSpPr/>
          <p:nvPr/>
        </p:nvSpPr>
        <p:spPr>
          <a:xfrm>
            <a:off x="640080" y="4096512"/>
            <a:ext cx="2880360" cy="566928"/>
          </a:xfrm>
          <a:prstGeom prst="roundRect">
            <a:avLst>
              <a:gd name="adj" fmla="val 50000"/>
            </a:avLst>
          </a:prstGeom>
          <a:solidFill>
            <a:srgbClr val="20335A"/>
          </a:solidFill>
          <a:ln w="15875">
            <a:solidFill>
              <a:srgbClr val="EF5B3C"/>
            </a:solidFill>
            <a:prstDash val="solid"/>
          </a:ln>
        </p:spPr>
      </p:sp>
      <p:sp>
        <p:nvSpPr>
          <p:cNvPr id="11" name="Text 9"/>
          <p:cNvSpPr/>
          <p:nvPr/>
        </p:nvSpPr>
        <p:spPr>
          <a:xfrm>
            <a:off x="640080" y="4096512"/>
            <a:ext cx="2880360" cy="566928"/>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Đặc sản địa phương</a:t>
            </a:r>
            <a:endParaRPr lang="en-US" sz="1450" dirty="0"/>
          </a:p>
        </p:txBody>
      </p:sp>
      <p:sp>
        <p:nvSpPr>
          <p:cNvPr id="12" name="Shape 10"/>
          <p:cNvSpPr/>
          <p:nvPr/>
        </p:nvSpPr>
        <p:spPr>
          <a:xfrm>
            <a:off x="3749040" y="4096512"/>
            <a:ext cx="2880360" cy="566928"/>
          </a:xfrm>
          <a:prstGeom prst="roundRect">
            <a:avLst>
              <a:gd name="adj" fmla="val 50000"/>
            </a:avLst>
          </a:prstGeom>
          <a:solidFill>
            <a:srgbClr val="20335A"/>
          </a:solidFill>
          <a:ln w="15875">
            <a:solidFill>
              <a:srgbClr val="EF5B3C"/>
            </a:solidFill>
            <a:prstDash val="solid"/>
          </a:ln>
        </p:spPr>
      </p:sp>
      <p:sp>
        <p:nvSpPr>
          <p:cNvPr id="13" name="Text 11"/>
          <p:cNvSpPr/>
          <p:nvPr/>
        </p:nvSpPr>
        <p:spPr>
          <a:xfrm>
            <a:off x="3749040" y="4096512"/>
            <a:ext cx="2880360" cy="566928"/>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Không yêu cầu</a:t>
            </a:r>
            <a:endParaRPr lang="en-US" sz="1450" dirty="0"/>
          </a:p>
        </p:txBody>
      </p:sp>
      <p:pic>
        <p:nvPicPr>
          <p:cNvPr id="14" name="Image 0" descr="preencoded.png">    </p:cNvPr>
          <p:cNvPicPr>
            <a:picLocks noChangeAspect="1"/>
          </p:cNvPicPr>
          <p:nvPr/>
        </p:nvPicPr>
        <p:blipFill>
          <a:blip r:embed="rId1"/>
          <a:stretch>
            <a:fillRect/>
          </a:stretch>
        </p:blipFill>
        <p:spPr>
          <a:xfrm>
            <a:off x="640080" y="5138928"/>
            <a:ext cx="292608" cy="292608"/>
          </a:xfrm>
          <a:prstGeom prst="rect">
            <a:avLst/>
          </a:prstGeom>
        </p:spPr>
      </p:pic>
      <p:sp>
        <p:nvSpPr>
          <p:cNvPr id="15" name="Text 12"/>
          <p:cNvSpPr/>
          <p:nvPr/>
        </p:nvSpPr>
        <p:spPr>
          <a:xfrm>
            <a:off x="1024128" y="5074920"/>
            <a:ext cx="5669280" cy="868680"/>
          </a:xfrm>
          <a:prstGeom prst="rect">
            <a:avLst/>
          </a:prstGeom>
          <a:noFill/>
          <a:ln/>
        </p:spPr>
        <p:txBody>
          <a:bodyPr wrap="square" lIns="0" tIns="0" rIns="0" bIns="0" rtlCol="0" anchor="t"/>
          <a:lstStyle/>
          <a:p>
            <a:pPr indent="0" marL="0">
              <a:lnSpc>
                <a:spcPct val="112000"/>
              </a:lnSpc>
              <a:buNone/>
            </a:pPr>
            <a:r>
              <a:rPr lang="en-US" sz="1500" b="1" dirty="0">
                <a:solidFill>
                  <a:srgbClr val="FFFFFF"/>
                </a:solidFill>
                <a:latin typeface="Calibri" pitchFamily="34" charset="0"/>
                <a:ea typeface="Calibri" pitchFamily="34" charset="-122"/>
                <a:cs typeface="Calibri" pitchFamily="34" charset="-120"/>
              </a:rPr>
              <a:t>GPS bắt đúng vị trí ở Hà Nội ngay bây giờ</a:t>
            </a:r>
            <a:pPr indent="0" marL="0">
              <a:lnSpc>
                <a:spcPct val="112000"/>
              </a:lnSpc>
              <a:buNone/>
            </a:pPr>
            <a:r>
              <a:rPr lang="en-US" sz="1500" dirty="0">
                <a:solidFill>
                  <a:srgbClr val="C7D2E6"/>
                </a:solidFill>
                <a:latin typeface="Calibri" pitchFamily="34" charset="0"/>
                <a:ea typeface="Calibri" pitchFamily="34" charset="-122"/>
                <a:cs typeface="Calibri" pitchFamily="34" charset="-120"/>
              </a:rPr>
              <a:t> — quán hiển thị là quán thật quanh đây, lấy trực tiếp từ Google Places.</a:t>
            </a:r>
            <a:endParaRPr lang="en-US" sz="1500" dirty="0"/>
          </a:p>
        </p:txBody>
      </p:sp>
      <p:sp>
        <p:nvSpPr>
          <p:cNvPr id="16" name="Shape 13"/>
          <p:cNvSpPr/>
          <p:nvPr/>
        </p:nvSpPr>
        <p:spPr>
          <a:xfrm>
            <a:off x="7360920" y="1737360"/>
            <a:ext cx="4160520" cy="4663440"/>
          </a:xfrm>
          <a:prstGeom prst="roundRect">
            <a:avLst>
              <a:gd name="adj" fmla="val 4835"/>
            </a:avLst>
          </a:prstGeom>
          <a:solidFill>
            <a:srgbClr val="FFFFFF"/>
          </a:solidFill>
          <a:ln/>
          <a:effectLst>
            <a:outerShdw sx="100000" sy="100000" kx="0" ky="0" algn="bl" rotWithShape="0" blurRad="101600" dist="38100" dir="8100000">
              <a:srgbClr val="000000">
                <a:alpha val="16000"/>
              </a:srgbClr>
            </a:outerShdw>
          </a:effectLst>
        </p:spPr>
      </p:sp>
      <p:sp>
        <p:nvSpPr>
          <p:cNvPr id="17" name="Shape 14"/>
          <p:cNvSpPr/>
          <p:nvPr/>
        </p:nvSpPr>
        <p:spPr>
          <a:xfrm>
            <a:off x="7616952" y="1993392"/>
            <a:ext cx="3648456" cy="530352"/>
          </a:xfrm>
          <a:prstGeom prst="roundRect">
            <a:avLst>
              <a:gd name="adj" fmla="val 20690"/>
            </a:avLst>
          </a:prstGeom>
          <a:solidFill>
            <a:srgbClr val="F5F6F8"/>
          </a:solidFill>
          <a:ln/>
        </p:spPr>
      </p:sp>
      <p:pic>
        <p:nvPicPr>
          <p:cNvPr id="18" name="Image 1" descr="preencoded.png">    </p:cNvPr>
          <p:cNvPicPr>
            <a:picLocks noChangeAspect="1"/>
          </p:cNvPicPr>
          <p:nvPr/>
        </p:nvPicPr>
        <p:blipFill>
          <a:blip r:embed="rId2"/>
          <a:stretch>
            <a:fillRect/>
          </a:stretch>
        </p:blipFill>
        <p:spPr>
          <a:xfrm>
            <a:off x="7772400" y="2103120"/>
            <a:ext cx="274320" cy="274320"/>
          </a:xfrm>
          <a:prstGeom prst="rect">
            <a:avLst/>
          </a:prstGeom>
        </p:spPr>
      </p:pic>
      <p:sp>
        <p:nvSpPr>
          <p:cNvPr id="19" name="Text 15"/>
          <p:cNvSpPr/>
          <p:nvPr/>
        </p:nvSpPr>
        <p:spPr>
          <a:xfrm>
            <a:off x="8119872" y="1993392"/>
            <a:ext cx="3154680" cy="530352"/>
          </a:xfrm>
          <a:prstGeom prst="rect">
            <a:avLst/>
          </a:prstGeom>
          <a:noFill/>
          <a:ln/>
        </p:spPr>
        <p:txBody>
          <a:bodyPr wrap="square" lIns="0" tIns="0" rIns="0" bIns="0" rtlCol="0" anchor="ctr"/>
          <a:lstStyle/>
          <a:p>
            <a:pPr indent="0" marL="0">
              <a:buNone/>
            </a:pPr>
            <a:r>
              <a:rPr lang="en-US" sz="1400" b="1" dirty="0">
                <a:solidFill>
                  <a:srgbClr val="16243F"/>
                </a:solidFill>
                <a:latin typeface="Calibri" pitchFamily="34" charset="0"/>
                <a:ea typeface="Calibri" pitchFamily="34" charset="-122"/>
                <a:cs typeface="Calibri" pitchFamily="34" charset="-120"/>
              </a:rPr>
              <a:t>Bạn đang ở Hà Nội</a:t>
            </a:r>
            <a:endParaRPr lang="en-US" sz="1400" dirty="0"/>
          </a:p>
        </p:txBody>
      </p:sp>
      <p:sp>
        <p:nvSpPr>
          <p:cNvPr id="20" name="Shape 16"/>
          <p:cNvSpPr/>
          <p:nvPr/>
        </p:nvSpPr>
        <p:spPr>
          <a:xfrm>
            <a:off x="7616952" y="2688336"/>
            <a:ext cx="3648456" cy="914400"/>
          </a:xfrm>
          <a:prstGeom prst="roundRect">
            <a:avLst>
              <a:gd name="adj" fmla="val 10000"/>
            </a:avLst>
          </a:prstGeom>
          <a:solidFill>
            <a:srgbClr val="FFFFFF"/>
          </a:solidFill>
          <a:ln w="12700">
            <a:solidFill>
              <a:srgbClr val="E3E6EC"/>
            </a:solidFill>
            <a:prstDash val="solid"/>
          </a:ln>
        </p:spPr>
      </p:sp>
      <p:sp>
        <p:nvSpPr>
          <p:cNvPr id="21" name="Shape 17"/>
          <p:cNvSpPr/>
          <p:nvPr/>
        </p:nvSpPr>
        <p:spPr>
          <a:xfrm>
            <a:off x="7616952" y="2688336"/>
            <a:ext cx="73152" cy="914400"/>
          </a:xfrm>
          <a:prstGeom prst="rect">
            <a:avLst/>
          </a:prstGeom>
          <a:solidFill>
            <a:srgbClr val="EF5B3C"/>
          </a:solidFill>
          <a:ln/>
        </p:spPr>
      </p:sp>
      <p:sp>
        <p:nvSpPr>
          <p:cNvPr id="22" name="Text 18"/>
          <p:cNvSpPr/>
          <p:nvPr/>
        </p:nvSpPr>
        <p:spPr>
          <a:xfrm>
            <a:off x="7799832" y="2779776"/>
            <a:ext cx="3291840" cy="292608"/>
          </a:xfrm>
          <a:prstGeom prst="rect">
            <a:avLst/>
          </a:prstGeom>
          <a:noFill/>
          <a:ln/>
        </p:spPr>
        <p:txBody>
          <a:bodyPr wrap="square" lIns="0" tIns="0" rIns="0" bIns="0" rtlCol="0" anchor="ctr"/>
          <a:lstStyle/>
          <a:p>
            <a:pPr indent="0" marL="0">
              <a:buNone/>
            </a:pPr>
            <a:r>
              <a:rPr lang="en-US" sz="1400" b="1" dirty="0">
                <a:solidFill>
                  <a:srgbClr val="16243F"/>
                </a:solidFill>
                <a:latin typeface="Calibri" pitchFamily="34" charset="0"/>
                <a:ea typeface="Calibri" pitchFamily="34" charset="-122"/>
                <a:cs typeface="Calibri" pitchFamily="34" charset="-120"/>
              </a:rPr>
              <a:t>1. Phở bò Bát Đàn</a:t>
            </a:r>
            <a:endParaRPr lang="en-US" sz="1400" dirty="0"/>
          </a:p>
        </p:txBody>
      </p:sp>
      <p:pic>
        <p:nvPicPr>
          <p:cNvPr id="23" name="Image 2" descr="preencoded.png">    </p:cNvPr>
          <p:cNvPicPr>
            <a:picLocks noChangeAspect="1"/>
          </p:cNvPicPr>
          <p:nvPr/>
        </p:nvPicPr>
        <p:blipFill>
          <a:blip r:embed="rId3"/>
          <a:stretch>
            <a:fillRect/>
          </a:stretch>
        </p:blipFill>
        <p:spPr>
          <a:xfrm>
            <a:off x="7799832" y="3090672"/>
            <a:ext cx="182880" cy="182880"/>
          </a:xfrm>
          <a:prstGeom prst="rect">
            <a:avLst/>
          </a:prstGeom>
        </p:spPr>
      </p:pic>
      <p:sp>
        <p:nvSpPr>
          <p:cNvPr id="24" name="Text 19"/>
          <p:cNvSpPr/>
          <p:nvPr/>
        </p:nvSpPr>
        <p:spPr>
          <a:xfrm>
            <a:off x="8019288" y="3072384"/>
            <a:ext cx="3154680" cy="237744"/>
          </a:xfrm>
          <a:prstGeom prst="rect">
            <a:avLst/>
          </a:prstGeom>
          <a:noFill/>
          <a:ln/>
        </p:spPr>
        <p:txBody>
          <a:bodyPr wrap="square" lIns="0" tIns="0" rIns="0" bIns="0" rtlCol="0" anchor="ctr"/>
          <a:lstStyle/>
          <a:p>
            <a:pPr indent="0" marL="0">
              <a:buNone/>
            </a:pPr>
            <a:r>
              <a:rPr lang="en-US" sz="1150" dirty="0">
                <a:solidFill>
                  <a:srgbClr val="5B6573"/>
                </a:solidFill>
                <a:latin typeface="Calibri" pitchFamily="34" charset="0"/>
                <a:ea typeface="Calibri" pitchFamily="34" charset="-122"/>
                <a:cs typeface="Calibri" pitchFamily="34" charset="-120"/>
              </a:rPr>
              <a:t>4.6  ·  350m · đi bộ 5'</a:t>
            </a:r>
            <a:endParaRPr lang="en-US" sz="1150" dirty="0"/>
          </a:p>
        </p:txBody>
      </p:sp>
      <p:sp>
        <p:nvSpPr>
          <p:cNvPr id="25" name="Text 20"/>
          <p:cNvSpPr/>
          <p:nvPr/>
        </p:nvSpPr>
        <p:spPr>
          <a:xfrm>
            <a:off x="7799832" y="3328416"/>
            <a:ext cx="3383280" cy="237744"/>
          </a:xfrm>
          <a:prstGeom prst="rect">
            <a:avLst/>
          </a:prstGeom>
          <a:noFill/>
          <a:ln/>
        </p:spPr>
        <p:txBody>
          <a:bodyPr wrap="square" lIns="0" tIns="0" rIns="0" bIns="0" rtlCol="0" anchor="ctr"/>
          <a:lstStyle/>
          <a:p>
            <a:pPr indent="0" marL="0">
              <a:buNone/>
            </a:pPr>
            <a:r>
              <a:rPr lang="en-US" sz="1150" i="1" dirty="0">
                <a:solidFill>
                  <a:srgbClr val="C5421F"/>
                </a:solidFill>
                <a:latin typeface="Calibri" pitchFamily="34" charset="0"/>
                <a:ea typeface="Calibri" pitchFamily="34" charset="-122"/>
                <a:cs typeface="Calibri" pitchFamily="34" charset="-120"/>
              </a:rPr>
              <a:t>Đặc sản Hà Nội, suất 1 người</a:t>
            </a:r>
            <a:endParaRPr lang="en-US" sz="1150" dirty="0"/>
          </a:p>
        </p:txBody>
      </p:sp>
      <p:sp>
        <p:nvSpPr>
          <p:cNvPr id="26" name="Shape 21"/>
          <p:cNvSpPr/>
          <p:nvPr/>
        </p:nvSpPr>
        <p:spPr>
          <a:xfrm>
            <a:off x="7616952" y="3712464"/>
            <a:ext cx="3648456" cy="914400"/>
          </a:xfrm>
          <a:prstGeom prst="roundRect">
            <a:avLst>
              <a:gd name="adj" fmla="val 10000"/>
            </a:avLst>
          </a:prstGeom>
          <a:solidFill>
            <a:srgbClr val="FFFFFF"/>
          </a:solidFill>
          <a:ln w="12700">
            <a:solidFill>
              <a:srgbClr val="E3E6EC"/>
            </a:solidFill>
            <a:prstDash val="solid"/>
          </a:ln>
        </p:spPr>
      </p:sp>
      <p:sp>
        <p:nvSpPr>
          <p:cNvPr id="27" name="Shape 22"/>
          <p:cNvSpPr/>
          <p:nvPr/>
        </p:nvSpPr>
        <p:spPr>
          <a:xfrm>
            <a:off x="7616952" y="3712464"/>
            <a:ext cx="73152" cy="914400"/>
          </a:xfrm>
          <a:prstGeom prst="rect">
            <a:avLst/>
          </a:prstGeom>
          <a:solidFill>
            <a:srgbClr val="EF5B3C"/>
          </a:solidFill>
          <a:ln/>
        </p:spPr>
      </p:sp>
      <p:sp>
        <p:nvSpPr>
          <p:cNvPr id="28" name="Text 23"/>
          <p:cNvSpPr/>
          <p:nvPr/>
        </p:nvSpPr>
        <p:spPr>
          <a:xfrm>
            <a:off x="7799832" y="3803904"/>
            <a:ext cx="3291840" cy="292608"/>
          </a:xfrm>
          <a:prstGeom prst="rect">
            <a:avLst/>
          </a:prstGeom>
          <a:noFill/>
          <a:ln/>
        </p:spPr>
        <p:txBody>
          <a:bodyPr wrap="square" lIns="0" tIns="0" rIns="0" bIns="0" rtlCol="0" anchor="ctr"/>
          <a:lstStyle/>
          <a:p>
            <a:pPr indent="0" marL="0">
              <a:buNone/>
            </a:pPr>
            <a:r>
              <a:rPr lang="en-US" sz="1400" b="1" dirty="0">
                <a:solidFill>
                  <a:srgbClr val="16243F"/>
                </a:solidFill>
                <a:latin typeface="Calibri" pitchFamily="34" charset="0"/>
                <a:ea typeface="Calibri" pitchFamily="34" charset="-122"/>
                <a:cs typeface="Calibri" pitchFamily="34" charset="-120"/>
              </a:rPr>
              <a:t>2. Bún chả Hàng Mành</a:t>
            </a:r>
            <a:endParaRPr lang="en-US" sz="1400" dirty="0"/>
          </a:p>
        </p:txBody>
      </p:sp>
      <p:pic>
        <p:nvPicPr>
          <p:cNvPr id="29" name="Image 3" descr="preencoded.png">    </p:cNvPr>
          <p:cNvPicPr>
            <a:picLocks noChangeAspect="1"/>
          </p:cNvPicPr>
          <p:nvPr/>
        </p:nvPicPr>
        <p:blipFill>
          <a:blip r:embed="rId4"/>
          <a:stretch>
            <a:fillRect/>
          </a:stretch>
        </p:blipFill>
        <p:spPr>
          <a:xfrm>
            <a:off x="7799832" y="4114800"/>
            <a:ext cx="182880" cy="182880"/>
          </a:xfrm>
          <a:prstGeom prst="rect">
            <a:avLst/>
          </a:prstGeom>
        </p:spPr>
      </p:pic>
      <p:sp>
        <p:nvSpPr>
          <p:cNvPr id="30" name="Text 24"/>
          <p:cNvSpPr/>
          <p:nvPr/>
        </p:nvSpPr>
        <p:spPr>
          <a:xfrm>
            <a:off x="8019288" y="4096512"/>
            <a:ext cx="3154680" cy="237744"/>
          </a:xfrm>
          <a:prstGeom prst="rect">
            <a:avLst/>
          </a:prstGeom>
          <a:noFill/>
          <a:ln/>
        </p:spPr>
        <p:txBody>
          <a:bodyPr wrap="square" lIns="0" tIns="0" rIns="0" bIns="0" rtlCol="0" anchor="ctr"/>
          <a:lstStyle/>
          <a:p>
            <a:pPr indent="0" marL="0">
              <a:buNone/>
            </a:pPr>
            <a:r>
              <a:rPr lang="en-US" sz="1150" dirty="0">
                <a:solidFill>
                  <a:srgbClr val="5B6573"/>
                </a:solidFill>
                <a:latin typeface="Calibri" pitchFamily="34" charset="0"/>
                <a:ea typeface="Calibri" pitchFamily="34" charset="-122"/>
                <a:cs typeface="Calibri" pitchFamily="34" charset="-120"/>
              </a:rPr>
              <a:t>4.5  ·  600m · đi bộ 8'</a:t>
            </a:r>
            <a:endParaRPr lang="en-US" sz="1150" dirty="0"/>
          </a:p>
        </p:txBody>
      </p:sp>
      <p:sp>
        <p:nvSpPr>
          <p:cNvPr id="31" name="Text 25"/>
          <p:cNvSpPr/>
          <p:nvPr/>
        </p:nvSpPr>
        <p:spPr>
          <a:xfrm>
            <a:off x="7799832" y="4352544"/>
            <a:ext cx="3383280" cy="237744"/>
          </a:xfrm>
          <a:prstGeom prst="rect">
            <a:avLst/>
          </a:prstGeom>
          <a:noFill/>
          <a:ln/>
        </p:spPr>
        <p:txBody>
          <a:bodyPr wrap="square" lIns="0" tIns="0" rIns="0" bIns="0" rtlCol="0" anchor="ctr"/>
          <a:lstStyle/>
          <a:p>
            <a:pPr indent="0" marL="0">
              <a:buNone/>
            </a:pPr>
            <a:r>
              <a:rPr lang="en-US" sz="1150" i="1" dirty="0">
                <a:solidFill>
                  <a:srgbClr val="C5421F"/>
                </a:solidFill>
                <a:latin typeface="Calibri" pitchFamily="34" charset="0"/>
                <a:ea typeface="Calibri" pitchFamily="34" charset="-122"/>
                <a:cs typeface="Calibri" pitchFamily="34" charset="-120"/>
              </a:rPr>
              <a:t>Than hoa, hợp bữa trưa</a:t>
            </a:r>
            <a:endParaRPr lang="en-US" sz="1150" dirty="0"/>
          </a:p>
        </p:txBody>
      </p:sp>
      <p:sp>
        <p:nvSpPr>
          <p:cNvPr id="32" name="Shape 26"/>
          <p:cNvSpPr/>
          <p:nvPr/>
        </p:nvSpPr>
        <p:spPr>
          <a:xfrm>
            <a:off x="7616952" y="4736592"/>
            <a:ext cx="3648456" cy="914400"/>
          </a:xfrm>
          <a:prstGeom prst="roundRect">
            <a:avLst>
              <a:gd name="adj" fmla="val 10000"/>
            </a:avLst>
          </a:prstGeom>
          <a:solidFill>
            <a:srgbClr val="FFFFFF"/>
          </a:solidFill>
          <a:ln w="12700">
            <a:solidFill>
              <a:srgbClr val="E3E6EC"/>
            </a:solidFill>
            <a:prstDash val="solid"/>
          </a:ln>
        </p:spPr>
      </p:sp>
      <p:sp>
        <p:nvSpPr>
          <p:cNvPr id="33" name="Shape 27"/>
          <p:cNvSpPr/>
          <p:nvPr/>
        </p:nvSpPr>
        <p:spPr>
          <a:xfrm>
            <a:off x="7616952" y="4736592"/>
            <a:ext cx="73152" cy="914400"/>
          </a:xfrm>
          <a:prstGeom prst="rect">
            <a:avLst/>
          </a:prstGeom>
          <a:solidFill>
            <a:srgbClr val="EF5B3C"/>
          </a:solidFill>
          <a:ln/>
        </p:spPr>
      </p:sp>
      <p:sp>
        <p:nvSpPr>
          <p:cNvPr id="34" name="Text 28"/>
          <p:cNvSpPr/>
          <p:nvPr/>
        </p:nvSpPr>
        <p:spPr>
          <a:xfrm>
            <a:off x="7799832" y="4828032"/>
            <a:ext cx="3291840" cy="292608"/>
          </a:xfrm>
          <a:prstGeom prst="rect">
            <a:avLst/>
          </a:prstGeom>
          <a:noFill/>
          <a:ln/>
        </p:spPr>
        <p:txBody>
          <a:bodyPr wrap="square" lIns="0" tIns="0" rIns="0" bIns="0" rtlCol="0" anchor="ctr"/>
          <a:lstStyle/>
          <a:p>
            <a:pPr indent="0" marL="0">
              <a:buNone/>
            </a:pPr>
            <a:r>
              <a:rPr lang="en-US" sz="1400" b="1" dirty="0">
                <a:solidFill>
                  <a:srgbClr val="16243F"/>
                </a:solidFill>
                <a:latin typeface="Calibri" pitchFamily="34" charset="0"/>
                <a:ea typeface="Calibri" pitchFamily="34" charset="-122"/>
                <a:cs typeface="Calibri" pitchFamily="34" charset="-120"/>
              </a:rPr>
              <a:t>3. Bún đậu Ngõ Trạm</a:t>
            </a:r>
            <a:endParaRPr lang="en-US" sz="1400" dirty="0"/>
          </a:p>
        </p:txBody>
      </p:sp>
      <p:pic>
        <p:nvPicPr>
          <p:cNvPr id="35" name="Image 4" descr="preencoded.png">    </p:cNvPr>
          <p:cNvPicPr>
            <a:picLocks noChangeAspect="1"/>
          </p:cNvPicPr>
          <p:nvPr/>
        </p:nvPicPr>
        <p:blipFill>
          <a:blip r:embed="rId5"/>
          <a:stretch>
            <a:fillRect/>
          </a:stretch>
        </p:blipFill>
        <p:spPr>
          <a:xfrm>
            <a:off x="7799832" y="5138928"/>
            <a:ext cx="182880" cy="182880"/>
          </a:xfrm>
          <a:prstGeom prst="rect">
            <a:avLst/>
          </a:prstGeom>
        </p:spPr>
      </p:pic>
      <p:sp>
        <p:nvSpPr>
          <p:cNvPr id="36" name="Text 29"/>
          <p:cNvSpPr/>
          <p:nvPr/>
        </p:nvSpPr>
        <p:spPr>
          <a:xfrm>
            <a:off x="8019288" y="5120640"/>
            <a:ext cx="3154680" cy="237744"/>
          </a:xfrm>
          <a:prstGeom prst="rect">
            <a:avLst/>
          </a:prstGeom>
          <a:noFill/>
          <a:ln/>
        </p:spPr>
        <p:txBody>
          <a:bodyPr wrap="square" lIns="0" tIns="0" rIns="0" bIns="0" rtlCol="0" anchor="ctr"/>
          <a:lstStyle/>
          <a:p>
            <a:pPr indent="0" marL="0">
              <a:buNone/>
            </a:pPr>
            <a:r>
              <a:rPr lang="en-US" sz="1150" dirty="0">
                <a:solidFill>
                  <a:srgbClr val="5B6573"/>
                </a:solidFill>
                <a:latin typeface="Calibri" pitchFamily="34" charset="0"/>
                <a:ea typeface="Calibri" pitchFamily="34" charset="-122"/>
                <a:cs typeface="Calibri" pitchFamily="34" charset="-120"/>
              </a:rPr>
              <a:t>4.7  ·  1.1km · xe 5'</a:t>
            </a:r>
            <a:endParaRPr lang="en-US" sz="1150" dirty="0"/>
          </a:p>
        </p:txBody>
      </p:sp>
      <p:sp>
        <p:nvSpPr>
          <p:cNvPr id="37" name="Text 30"/>
          <p:cNvSpPr/>
          <p:nvPr/>
        </p:nvSpPr>
        <p:spPr>
          <a:xfrm>
            <a:off x="7799832" y="5376672"/>
            <a:ext cx="3383280" cy="237744"/>
          </a:xfrm>
          <a:prstGeom prst="rect">
            <a:avLst/>
          </a:prstGeom>
          <a:noFill/>
          <a:ln/>
        </p:spPr>
        <p:txBody>
          <a:bodyPr wrap="square" lIns="0" tIns="0" rIns="0" bIns="0" rtlCol="0" anchor="ctr"/>
          <a:lstStyle/>
          <a:p>
            <a:pPr indent="0" marL="0">
              <a:buNone/>
            </a:pPr>
            <a:r>
              <a:rPr lang="en-US" sz="1150" i="1" dirty="0">
                <a:solidFill>
                  <a:srgbClr val="C5421F"/>
                </a:solidFill>
                <a:latin typeface="Calibri" pitchFamily="34" charset="0"/>
                <a:ea typeface="Calibri" pitchFamily="34" charset="-122"/>
                <a:cs typeface="Calibri" pitchFamily="34" charset="-120"/>
              </a:rPr>
              <a:t>Món Hà Nội, ăn nhanh gọn</a:t>
            </a:r>
            <a:endParaRPr lang="en-US" sz="1150" dirty="0"/>
          </a:p>
        </p:txBody>
      </p:sp>
      <p:sp>
        <p:nvSpPr>
          <p:cNvPr id="38" name="Text 31"/>
          <p:cNvSpPr/>
          <p:nvPr/>
        </p:nvSpPr>
        <p:spPr>
          <a:xfrm>
            <a:off x="7360920" y="6419088"/>
            <a:ext cx="4160520" cy="274320"/>
          </a:xfrm>
          <a:prstGeom prst="rect">
            <a:avLst/>
          </a:prstGeom>
          <a:noFill/>
          <a:ln/>
        </p:spPr>
        <p:txBody>
          <a:bodyPr wrap="square" lIns="0" tIns="0" rIns="0" bIns="0" rtlCol="0" anchor="ctr"/>
          <a:lstStyle/>
          <a:p>
            <a:pPr algn="ctr" indent="0" marL="0">
              <a:buNone/>
            </a:pPr>
            <a:r>
              <a:rPr lang="en-US" sz="1050" i="1" dirty="0">
                <a:solidFill>
                  <a:srgbClr val="C7D2E6"/>
                </a:solidFill>
                <a:latin typeface="Calibri" pitchFamily="34" charset="0"/>
                <a:ea typeface="Calibri" pitchFamily="34" charset="-122"/>
                <a:cs typeface="Calibri" pitchFamily="34" charset="-120"/>
              </a:rPr>
              <a:t>Ví dụ minh hoạ · kết quả thật lấy theo vị trí khi demo</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881360" cy="292608"/>
          </a:xfrm>
          <a:prstGeom prst="rect">
            <a:avLst/>
          </a:prstGeom>
          <a:noFill/>
          <a:ln/>
        </p:spPr>
        <p:txBody>
          <a:bodyPr wrap="square" lIns="0" tIns="0" rIns="0" bIns="0" rtlCol="0" anchor="ctr"/>
          <a:lstStyle/>
          <a:p>
            <a:pPr algn="l" indent="0" marL="0">
              <a:buNone/>
            </a:pPr>
            <a:r>
              <a:rPr lang="en-US" sz="1300" b="1" spc="300" kern="0" dirty="0">
                <a:solidFill>
                  <a:srgbClr val="EF5B3C"/>
                </a:solidFill>
                <a:latin typeface="Calibri" pitchFamily="34" charset="0"/>
                <a:ea typeface="Calibri" pitchFamily="34" charset="-122"/>
                <a:cs typeface="Calibri" pitchFamily="34" charset="-120"/>
              </a:rPr>
              <a:t>04 · FAILURE MODES</a:t>
            </a:r>
            <a:endParaRPr lang="en-US" sz="1300" dirty="0"/>
          </a:p>
        </p:txBody>
      </p:sp>
      <p:sp>
        <p:nvSpPr>
          <p:cNvPr id="3" name="Text 1"/>
          <p:cNvSpPr/>
          <p:nvPr/>
        </p:nvSpPr>
        <p:spPr>
          <a:xfrm>
            <a:off x="640080" y="749808"/>
            <a:ext cx="10881360" cy="868680"/>
          </a:xfrm>
          <a:prstGeom prst="rect">
            <a:avLst/>
          </a:prstGeom>
          <a:noFill/>
          <a:ln/>
        </p:spPr>
        <p:txBody>
          <a:bodyPr wrap="square" lIns="0" tIns="0" rIns="0" bIns="0" rtlCol="0" anchor="t"/>
          <a:lstStyle/>
          <a:p>
            <a:pPr algn="l" indent="0" marL="0">
              <a:buNone/>
            </a:pPr>
            <a:r>
              <a:rPr lang="en-US" sz="3100" b="1" dirty="0">
                <a:solidFill>
                  <a:srgbClr val="16243F"/>
                </a:solidFill>
                <a:latin typeface="Georgia" pitchFamily="34" charset="0"/>
                <a:ea typeface="Georgia" pitchFamily="34" charset="-122"/>
                <a:cs typeface="Georgia" pitchFamily="34" charset="-120"/>
              </a:rPr>
              <a:t>Khi dữ liệu không đáng tin — xử lý thế nào</a:t>
            </a:r>
            <a:endParaRPr lang="en-US" sz="3100" dirty="0"/>
          </a:p>
        </p:txBody>
      </p:sp>
      <p:sp>
        <p:nvSpPr>
          <p:cNvPr id="4" name="Shape 2"/>
          <p:cNvSpPr/>
          <p:nvPr/>
        </p:nvSpPr>
        <p:spPr>
          <a:xfrm>
            <a:off x="640080" y="2057400"/>
            <a:ext cx="3456432" cy="2880360"/>
          </a:xfrm>
          <a:prstGeom prst="rect">
            <a:avLst/>
          </a:prstGeom>
          <a:solidFill>
            <a:srgbClr val="F5F6F8"/>
          </a:solidFill>
          <a:ln w="12700">
            <a:solidFill>
              <a:srgbClr val="E3E6EC"/>
            </a:solidFill>
            <a:prstDash val="solid"/>
          </a:ln>
          <a:effectLst>
            <a:outerShdw sx="100000" sy="100000" kx="0" ky="0" algn="bl" rotWithShape="0" blurRad="101600" dist="38100" dir="8100000">
              <a:srgbClr val="000000">
                <a:alpha val="16000"/>
              </a:srgbClr>
            </a:outerShdw>
          </a:effectLst>
        </p:spPr>
      </p:sp>
      <p:sp>
        <p:nvSpPr>
          <p:cNvPr id="5" name="Shape 3"/>
          <p:cNvSpPr/>
          <p:nvPr/>
        </p:nvSpPr>
        <p:spPr>
          <a:xfrm>
            <a:off x="1005840" y="2423160"/>
            <a:ext cx="868680" cy="868680"/>
          </a:xfrm>
          <a:prstGeom prst="ellipse">
            <a:avLst/>
          </a:prstGeom>
          <a:solidFill>
            <a:srgbClr val="F2A03D"/>
          </a:solidFill>
          <a:ln/>
          <a:effectLst>
            <a:outerShdw sx="100000" sy="100000" kx="0" ky="0" algn="bl" rotWithShape="0" blurRad="101600" dist="38100" dir="8100000">
              <a:srgbClr val="000000">
                <a:alpha val="16000"/>
              </a:srgbClr>
            </a:outerShdw>
          </a:effectLst>
        </p:spPr>
      </p:sp>
      <p:pic>
        <p:nvPicPr>
          <p:cNvPr id="6" name="Image 0" descr="preencoded.png">    </p:cNvPr>
          <p:cNvPicPr>
            <a:picLocks noChangeAspect="1"/>
          </p:cNvPicPr>
          <p:nvPr/>
        </p:nvPicPr>
        <p:blipFill>
          <a:blip r:embed="rId1"/>
          <a:stretch>
            <a:fillRect/>
          </a:stretch>
        </p:blipFill>
        <p:spPr>
          <a:xfrm>
            <a:off x="1240384" y="2657704"/>
            <a:ext cx="399593" cy="399593"/>
          </a:xfrm>
          <a:prstGeom prst="rect">
            <a:avLst/>
          </a:prstGeom>
        </p:spPr>
      </p:pic>
      <p:sp>
        <p:nvSpPr>
          <p:cNvPr id="7" name="Text 4"/>
          <p:cNvSpPr/>
          <p:nvPr/>
        </p:nvSpPr>
        <p:spPr>
          <a:xfrm>
            <a:off x="1005840" y="3429000"/>
            <a:ext cx="2724912" cy="685800"/>
          </a:xfrm>
          <a:prstGeom prst="rect">
            <a:avLst/>
          </a:prstGeom>
          <a:noFill/>
          <a:ln/>
        </p:spPr>
        <p:txBody>
          <a:bodyPr wrap="square" lIns="0" tIns="0" rIns="0" bIns="0" rtlCol="0" anchor="ctr"/>
          <a:lstStyle/>
          <a:p>
            <a:pPr indent="0" marL="0">
              <a:lnSpc>
                <a:spcPct val="100000"/>
              </a:lnSpc>
              <a:buNone/>
            </a:pPr>
            <a:r>
              <a:rPr lang="en-US" sz="1850" b="1" dirty="0">
                <a:solidFill>
                  <a:srgbClr val="16243F"/>
                </a:solidFill>
                <a:latin typeface="Georgia" pitchFamily="34" charset="0"/>
                <a:ea typeface="Georgia" pitchFamily="34" charset="-122"/>
                <a:cs typeface="Georgia" pitchFamily="34" charset="-120"/>
              </a:rPr>
              <a:t>Quán đóng cửa / đổi giờ</a:t>
            </a:r>
            <a:endParaRPr lang="en-US" sz="1850" dirty="0"/>
          </a:p>
        </p:txBody>
      </p:sp>
      <p:sp>
        <p:nvSpPr>
          <p:cNvPr id="8" name="Text 5"/>
          <p:cNvSpPr/>
          <p:nvPr/>
        </p:nvSpPr>
        <p:spPr>
          <a:xfrm>
            <a:off x="1005840" y="4069080"/>
            <a:ext cx="2724912" cy="777240"/>
          </a:xfrm>
          <a:prstGeom prst="rect">
            <a:avLst/>
          </a:prstGeom>
          <a:noFill/>
          <a:ln/>
        </p:spPr>
        <p:txBody>
          <a:bodyPr wrap="square" lIns="0" tIns="0" rIns="0" bIns="0" rtlCol="0" anchor="ctr"/>
          <a:lstStyle/>
          <a:p>
            <a:pPr indent="0" marL="0">
              <a:lnSpc>
                <a:spcPct val="110000"/>
              </a:lnSpc>
              <a:buNone/>
            </a:pPr>
            <a:r>
              <a:rPr lang="en-US" sz="1400" dirty="0">
                <a:solidFill>
                  <a:srgbClr val="20283A"/>
                </a:solidFill>
                <a:latin typeface="Calibri" pitchFamily="34" charset="0"/>
                <a:ea typeface="Calibri" pitchFamily="34" charset="-122"/>
                <a:cs typeface="Calibri" pitchFamily="34" charset="-120"/>
              </a:rPr>
              <a:t>Kiểm tra open_now → gắn badge “Có thể đã đóng” + link kiểm tra Google Maps trước khi xuất phát.</a:t>
            </a:r>
            <a:endParaRPr lang="en-US" sz="1400" dirty="0"/>
          </a:p>
        </p:txBody>
      </p:sp>
      <p:sp>
        <p:nvSpPr>
          <p:cNvPr id="9" name="Shape 6"/>
          <p:cNvSpPr/>
          <p:nvPr/>
        </p:nvSpPr>
        <p:spPr>
          <a:xfrm>
            <a:off x="4361688" y="2057400"/>
            <a:ext cx="3456432" cy="2880360"/>
          </a:xfrm>
          <a:prstGeom prst="rect">
            <a:avLst/>
          </a:prstGeom>
          <a:solidFill>
            <a:srgbClr val="F5F6F8"/>
          </a:solidFill>
          <a:ln w="12700">
            <a:solidFill>
              <a:srgbClr val="E3E6EC"/>
            </a:solidFill>
            <a:prstDash val="solid"/>
          </a:ln>
          <a:effectLst>
            <a:outerShdw sx="100000" sy="100000" kx="0" ky="0" algn="bl" rotWithShape="0" blurRad="101600" dist="38100" dir="8100000">
              <a:srgbClr val="000000">
                <a:alpha val="16000"/>
              </a:srgbClr>
            </a:outerShdw>
          </a:effectLst>
        </p:spPr>
      </p:sp>
      <p:sp>
        <p:nvSpPr>
          <p:cNvPr id="10" name="Shape 7"/>
          <p:cNvSpPr/>
          <p:nvPr/>
        </p:nvSpPr>
        <p:spPr>
          <a:xfrm>
            <a:off x="4727448" y="2423160"/>
            <a:ext cx="868680" cy="868680"/>
          </a:xfrm>
          <a:prstGeom prst="ellipse">
            <a:avLst/>
          </a:prstGeom>
          <a:solidFill>
            <a:srgbClr val="EF5B3C"/>
          </a:solidFill>
          <a:ln/>
          <a:effectLst>
            <a:outerShdw sx="100000" sy="100000" kx="0" ky="0" algn="bl" rotWithShape="0" blurRad="101600" dist="38100" dir="8100000">
              <a:srgbClr val="000000">
                <a:alpha val="16000"/>
              </a:srgbClr>
            </a:outerShdw>
          </a:effectLst>
        </p:spPr>
      </p:sp>
      <p:pic>
        <p:nvPicPr>
          <p:cNvPr id="11" name="Image 1" descr="preencoded.png">    </p:cNvPr>
          <p:cNvPicPr>
            <a:picLocks noChangeAspect="1"/>
          </p:cNvPicPr>
          <p:nvPr/>
        </p:nvPicPr>
        <p:blipFill>
          <a:blip r:embed="rId2"/>
          <a:stretch>
            <a:fillRect/>
          </a:stretch>
        </p:blipFill>
        <p:spPr>
          <a:xfrm>
            <a:off x="4961992" y="2657704"/>
            <a:ext cx="399593" cy="399593"/>
          </a:xfrm>
          <a:prstGeom prst="rect">
            <a:avLst/>
          </a:prstGeom>
        </p:spPr>
      </p:pic>
      <p:sp>
        <p:nvSpPr>
          <p:cNvPr id="12" name="Text 8"/>
          <p:cNvSpPr/>
          <p:nvPr/>
        </p:nvSpPr>
        <p:spPr>
          <a:xfrm>
            <a:off x="4727448" y="3429000"/>
            <a:ext cx="2724912" cy="685800"/>
          </a:xfrm>
          <a:prstGeom prst="rect">
            <a:avLst/>
          </a:prstGeom>
          <a:noFill/>
          <a:ln/>
        </p:spPr>
        <p:txBody>
          <a:bodyPr wrap="square" lIns="0" tIns="0" rIns="0" bIns="0" rtlCol="0" anchor="ctr"/>
          <a:lstStyle/>
          <a:p>
            <a:pPr indent="0" marL="0">
              <a:lnSpc>
                <a:spcPct val="100000"/>
              </a:lnSpc>
              <a:buNone/>
            </a:pPr>
            <a:r>
              <a:rPr lang="en-US" sz="1850" b="1" dirty="0">
                <a:solidFill>
                  <a:srgbClr val="16243F"/>
                </a:solidFill>
                <a:latin typeface="Georgia" pitchFamily="34" charset="0"/>
                <a:ea typeface="Georgia" pitchFamily="34" charset="-122"/>
                <a:cs typeface="Georgia" pitchFamily="34" charset="-120"/>
              </a:rPr>
              <a:t>Review cũ, ít, mâu thuẫn</a:t>
            </a:r>
            <a:endParaRPr lang="en-US" sz="1850" dirty="0"/>
          </a:p>
        </p:txBody>
      </p:sp>
      <p:sp>
        <p:nvSpPr>
          <p:cNvPr id="13" name="Text 9"/>
          <p:cNvSpPr/>
          <p:nvPr/>
        </p:nvSpPr>
        <p:spPr>
          <a:xfrm>
            <a:off x="4727448" y="4069080"/>
            <a:ext cx="2724912" cy="777240"/>
          </a:xfrm>
          <a:prstGeom prst="rect">
            <a:avLst/>
          </a:prstGeom>
          <a:noFill/>
          <a:ln/>
        </p:spPr>
        <p:txBody>
          <a:bodyPr wrap="square" lIns="0" tIns="0" rIns="0" bIns="0" rtlCol="0" anchor="ctr"/>
          <a:lstStyle/>
          <a:p>
            <a:pPr indent="0" marL="0">
              <a:lnSpc>
                <a:spcPct val="110000"/>
              </a:lnSpc>
              <a:buNone/>
            </a:pPr>
            <a:r>
              <a:rPr lang="en-US" sz="1400" dirty="0">
                <a:solidFill>
                  <a:srgbClr val="20283A"/>
                </a:solidFill>
                <a:latin typeface="Calibri" pitchFamily="34" charset="0"/>
                <a:ea typeface="Calibri" pitchFamily="34" charset="-122"/>
                <a:cs typeface="Calibri" pitchFamily="34" charset="-120"/>
              </a:rPr>
              <a:t>Hạ mức tin cậy, gắn badge “Cập nhật X tháng trước”. Vẫn đưa 3 gợi ý kèm cảnh báo, không nói chắc quá mức.</a:t>
            </a:r>
            <a:endParaRPr lang="en-US" sz="1400" dirty="0"/>
          </a:p>
        </p:txBody>
      </p:sp>
      <p:sp>
        <p:nvSpPr>
          <p:cNvPr id="14" name="Shape 10"/>
          <p:cNvSpPr/>
          <p:nvPr/>
        </p:nvSpPr>
        <p:spPr>
          <a:xfrm>
            <a:off x="8083296" y="2057400"/>
            <a:ext cx="3456432" cy="2880360"/>
          </a:xfrm>
          <a:prstGeom prst="rect">
            <a:avLst/>
          </a:prstGeom>
          <a:solidFill>
            <a:srgbClr val="F5F6F8"/>
          </a:solidFill>
          <a:ln w="12700">
            <a:solidFill>
              <a:srgbClr val="E3E6EC"/>
            </a:solidFill>
            <a:prstDash val="solid"/>
          </a:ln>
          <a:effectLst>
            <a:outerShdw sx="100000" sy="100000" kx="0" ky="0" algn="bl" rotWithShape="0" blurRad="101600" dist="38100" dir="8100000">
              <a:srgbClr val="000000">
                <a:alpha val="16000"/>
              </a:srgbClr>
            </a:outerShdw>
          </a:effectLst>
        </p:spPr>
      </p:sp>
      <p:sp>
        <p:nvSpPr>
          <p:cNvPr id="15" name="Shape 11"/>
          <p:cNvSpPr/>
          <p:nvPr/>
        </p:nvSpPr>
        <p:spPr>
          <a:xfrm>
            <a:off x="8449056" y="2423160"/>
            <a:ext cx="868680" cy="868680"/>
          </a:xfrm>
          <a:prstGeom prst="ellipse">
            <a:avLst/>
          </a:prstGeom>
          <a:solidFill>
            <a:srgbClr val="1B9E8A"/>
          </a:solidFill>
          <a:ln/>
          <a:effectLst>
            <a:outerShdw sx="100000" sy="100000" kx="0" ky="0" algn="bl" rotWithShape="0" blurRad="101600" dist="38100" dir="8100000">
              <a:srgbClr val="000000">
                <a:alpha val="16000"/>
              </a:srgbClr>
            </a:outerShdw>
          </a:effectLst>
        </p:spPr>
      </p:sp>
      <p:pic>
        <p:nvPicPr>
          <p:cNvPr id="16" name="Image 2" descr="preencoded.png">    </p:cNvPr>
          <p:cNvPicPr>
            <a:picLocks noChangeAspect="1"/>
          </p:cNvPicPr>
          <p:nvPr/>
        </p:nvPicPr>
        <p:blipFill>
          <a:blip r:embed="rId3"/>
          <a:stretch>
            <a:fillRect/>
          </a:stretch>
        </p:blipFill>
        <p:spPr>
          <a:xfrm>
            <a:off x="8683600" y="2657704"/>
            <a:ext cx="399593" cy="399593"/>
          </a:xfrm>
          <a:prstGeom prst="rect">
            <a:avLst/>
          </a:prstGeom>
        </p:spPr>
      </p:pic>
      <p:sp>
        <p:nvSpPr>
          <p:cNvPr id="17" name="Text 12"/>
          <p:cNvSpPr/>
          <p:nvPr/>
        </p:nvSpPr>
        <p:spPr>
          <a:xfrm>
            <a:off x="8449056" y="3429000"/>
            <a:ext cx="2724912" cy="685800"/>
          </a:xfrm>
          <a:prstGeom prst="rect">
            <a:avLst/>
          </a:prstGeom>
          <a:noFill/>
          <a:ln/>
        </p:spPr>
        <p:txBody>
          <a:bodyPr wrap="square" lIns="0" tIns="0" rIns="0" bIns="0" rtlCol="0" anchor="ctr"/>
          <a:lstStyle/>
          <a:p>
            <a:pPr indent="0" marL="0">
              <a:lnSpc>
                <a:spcPct val="100000"/>
              </a:lnSpc>
              <a:buNone/>
            </a:pPr>
            <a:r>
              <a:rPr lang="en-US" sz="1850" b="1" dirty="0">
                <a:solidFill>
                  <a:srgbClr val="16243F"/>
                </a:solidFill>
                <a:latin typeface="Georgia" pitchFamily="34" charset="0"/>
                <a:ea typeface="Georgia" pitchFamily="34" charset="-122"/>
                <a:cs typeface="Georgia" pitchFamily="34" charset="-120"/>
              </a:rPr>
              <a:t>Không tìm thấy quán</a:t>
            </a:r>
            <a:endParaRPr lang="en-US" sz="1850" dirty="0"/>
          </a:p>
        </p:txBody>
      </p:sp>
      <p:sp>
        <p:nvSpPr>
          <p:cNvPr id="18" name="Text 13"/>
          <p:cNvSpPr/>
          <p:nvPr/>
        </p:nvSpPr>
        <p:spPr>
          <a:xfrm>
            <a:off x="8449056" y="4069080"/>
            <a:ext cx="2724912" cy="777240"/>
          </a:xfrm>
          <a:prstGeom prst="rect">
            <a:avLst/>
          </a:prstGeom>
          <a:noFill/>
          <a:ln/>
        </p:spPr>
        <p:txBody>
          <a:bodyPr wrap="square" lIns="0" tIns="0" rIns="0" bIns="0" rtlCol="0" anchor="ctr"/>
          <a:lstStyle/>
          <a:p>
            <a:pPr indent="0" marL="0">
              <a:lnSpc>
                <a:spcPct val="110000"/>
              </a:lnSpc>
              <a:buNone/>
            </a:pPr>
            <a:r>
              <a:rPr lang="en-US" sz="1400" dirty="0">
                <a:solidFill>
                  <a:srgbClr val="20283A"/>
                </a:solidFill>
                <a:latin typeface="Calibri" pitchFamily="34" charset="0"/>
                <a:ea typeface="Calibri" pitchFamily="34" charset="-122"/>
                <a:cs typeface="Calibri" pitchFamily="34" charset="-120"/>
              </a:rPr>
              <a:t>Tự mở rộng bán kính 500m → 1 → 2 → 5km, gợi ý lựa chọn an toàn. Không bịa dữ liệu để có kết quả.</a:t>
            </a:r>
            <a:endParaRPr lang="en-US" sz="1400" dirty="0"/>
          </a:p>
        </p:txBody>
      </p:sp>
      <p:sp>
        <p:nvSpPr>
          <p:cNvPr id="19" name="Shape 14"/>
          <p:cNvSpPr/>
          <p:nvPr/>
        </p:nvSpPr>
        <p:spPr>
          <a:xfrm>
            <a:off x="640080" y="5349240"/>
            <a:ext cx="10908792" cy="960120"/>
          </a:xfrm>
          <a:prstGeom prst="rect">
            <a:avLst/>
          </a:prstGeom>
          <a:solidFill>
            <a:srgbClr val="16243F"/>
          </a:solidFill>
          <a:ln/>
        </p:spPr>
      </p:sp>
      <p:sp>
        <p:nvSpPr>
          <p:cNvPr id="20" name="Shape 15"/>
          <p:cNvSpPr/>
          <p:nvPr/>
        </p:nvSpPr>
        <p:spPr>
          <a:xfrm>
            <a:off x="868680" y="5550408"/>
            <a:ext cx="548640" cy="548640"/>
          </a:xfrm>
          <a:prstGeom prst="ellipse">
            <a:avLst/>
          </a:prstGeom>
          <a:solidFill>
            <a:srgbClr val="EF5B3C"/>
          </a:solidFill>
          <a:ln/>
          <a:effectLst>
            <a:outerShdw sx="100000" sy="100000" kx="0" ky="0" algn="bl" rotWithShape="0" blurRad="101600" dist="38100" dir="8100000">
              <a:srgbClr val="000000">
                <a:alpha val="16000"/>
              </a:srgbClr>
            </a:outerShdw>
          </a:effectLst>
        </p:spPr>
      </p:sp>
      <p:pic>
        <p:nvPicPr>
          <p:cNvPr id="21" name="Image 3" descr="preencoded.png">    </p:cNvPr>
          <p:cNvPicPr>
            <a:picLocks noChangeAspect="1"/>
          </p:cNvPicPr>
          <p:nvPr/>
        </p:nvPicPr>
        <p:blipFill>
          <a:blip r:embed="rId4"/>
          <a:stretch>
            <a:fillRect/>
          </a:stretch>
        </p:blipFill>
        <p:spPr>
          <a:xfrm>
            <a:off x="1016813" y="5698541"/>
            <a:ext cx="252374" cy="252374"/>
          </a:xfrm>
          <a:prstGeom prst="rect">
            <a:avLst/>
          </a:prstGeom>
        </p:spPr>
      </p:pic>
      <p:sp>
        <p:nvSpPr>
          <p:cNvPr id="22" name="Text 16"/>
          <p:cNvSpPr/>
          <p:nvPr/>
        </p:nvSpPr>
        <p:spPr>
          <a:xfrm>
            <a:off x="1600200" y="5349240"/>
            <a:ext cx="9692640" cy="960120"/>
          </a:xfrm>
          <a:prstGeom prst="rect">
            <a:avLst/>
          </a:prstGeom>
          <a:noFill/>
          <a:ln/>
        </p:spPr>
        <p:txBody>
          <a:bodyPr wrap="square" lIns="0" tIns="0" rIns="0" bIns="0" rtlCol="0" anchor="ctr"/>
          <a:lstStyle/>
          <a:p>
            <a:pPr indent="0" marL="0">
              <a:lnSpc>
                <a:spcPct val="105000"/>
              </a:lnSpc>
              <a:buNone/>
            </a:pPr>
            <a:r>
              <a:rPr lang="en-US" sz="1550" b="1" dirty="0">
                <a:solidFill>
                  <a:srgbClr val="F2A03D"/>
                </a:solidFill>
                <a:latin typeface="Calibri" pitchFamily="34" charset="0"/>
                <a:ea typeface="Calibri" pitchFamily="34" charset="-122"/>
                <a:cs typeface="Calibri" pitchFamily="34" charset="-120"/>
              </a:rPr>
              <a:t>Critical constraint:  </a:t>
            </a:r>
            <a:pPr indent="0" marL="0">
              <a:lnSpc>
                <a:spcPct val="105000"/>
              </a:lnSpc>
              <a:buNone/>
            </a:pPr>
            <a:r>
              <a:rPr lang="en-US" sz="1550" dirty="0">
                <a:solidFill>
                  <a:srgbClr val="FFFFFF"/>
                </a:solidFill>
                <a:latin typeface="Calibri" pitchFamily="34" charset="0"/>
                <a:ea typeface="Calibri" pitchFamily="34" charset="-122"/>
                <a:cs typeface="Calibri" pitchFamily="34" charset="-120"/>
              </a:rPr>
              <a:t>Dị ứng / ăn chay / Halal — chỉ gợi ý khi đủ bằng chứng, và luôn nhắc user xác nhận trực tiếp với quán trước khi đến.</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881360" cy="292608"/>
          </a:xfrm>
          <a:prstGeom prst="rect">
            <a:avLst/>
          </a:prstGeom>
          <a:noFill/>
          <a:ln/>
        </p:spPr>
        <p:txBody>
          <a:bodyPr wrap="square" lIns="0" tIns="0" rIns="0" bIns="0" rtlCol="0" anchor="ctr"/>
          <a:lstStyle/>
          <a:p>
            <a:pPr algn="l" indent="0" marL="0">
              <a:buNone/>
            </a:pPr>
            <a:r>
              <a:rPr lang="en-US" sz="1300" b="1" spc="300" kern="0" dirty="0">
                <a:solidFill>
                  <a:srgbClr val="EF5B3C"/>
                </a:solidFill>
                <a:latin typeface="Calibri" pitchFamily="34" charset="0"/>
                <a:ea typeface="Calibri" pitchFamily="34" charset="-122"/>
                <a:cs typeface="Calibri" pitchFamily="34" charset="-120"/>
              </a:rPr>
              <a:t>05 · QUYẾT ĐỊNH AI</a:t>
            </a:r>
            <a:endParaRPr lang="en-US" sz="1300" dirty="0"/>
          </a:p>
        </p:txBody>
      </p:sp>
      <p:sp>
        <p:nvSpPr>
          <p:cNvPr id="3" name="Text 1"/>
          <p:cNvSpPr/>
          <p:nvPr/>
        </p:nvSpPr>
        <p:spPr>
          <a:xfrm>
            <a:off x="640080" y="749808"/>
            <a:ext cx="10881360" cy="868680"/>
          </a:xfrm>
          <a:prstGeom prst="rect">
            <a:avLst/>
          </a:prstGeom>
          <a:noFill/>
          <a:ln/>
        </p:spPr>
        <p:txBody>
          <a:bodyPr wrap="square" lIns="0" tIns="0" rIns="0" bIns="0" rtlCol="0" anchor="t"/>
          <a:lstStyle/>
          <a:p>
            <a:pPr algn="l" indent="0" marL="0">
              <a:buNone/>
            </a:pPr>
            <a:r>
              <a:rPr lang="en-US" sz="3300" b="1" dirty="0">
                <a:solidFill>
                  <a:srgbClr val="16243F"/>
                </a:solidFill>
                <a:latin typeface="Georgia" pitchFamily="34" charset="0"/>
                <a:ea typeface="Georgia" pitchFamily="34" charset="-122"/>
                <a:cs typeface="Georgia" pitchFamily="34" charset="-120"/>
              </a:rPr>
              <a:t>AI gợi ý — Người dùng quyết định</a:t>
            </a:r>
            <a:endParaRPr lang="en-US" sz="3300" dirty="0"/>
          </a:p>
        </p:txBody>
      </p:sp>
      <p:sp>
        <p:nvSpPr>
          <p:cNvPr id="4" name="Text 2"/>
          <p:cNvSpPr/>
          <p:nvPr/>
        </p:nvSpPr>
        <p:spPr>
          <a:xfrm>
            <a:off x="640080" y="1508760"/>
            <a:ext cx="10881360" cy="411480"/>
          </a:xfrm>
          <a:prstGeom prst="rect">
            <a:avLst/>
          </a:prstGeom>
          <a:noFill/>
          <a:ln/>
        </p:spPr>
        <p:txBody>
          <a:bodyPr wrap="square" lIns="0" tIns="0" rIns="0" bIns="0" rtlCol="0" anchor="ctr"/>
          <a:lstStyle/>
          <a:p>
            <a:pPr indent="0" marL="0">
              <a:buNone/>
            </a:pPr>
            <a:r>
              <a:rPr lang="en-US" sz="1700" dirty="0">
                <a:solidFill>
                  <a:srgbClr val="5B6573"/>
                </a:solidFill>
                <a:latin typeface="Calibri" pitchFamily="34" charset="0"/>
                <a:ea typeface="Calibri" pitchFamily="34" charset="-122"/>
                <a:cs typeface="Calibri" pitchFamily="34" charset="-120"/>
              </a:rPr>
              <a:t>Chọn hướng Augment, không Automate.</a:t>
            </a:r>
            <a:endParaRPr lang="en-US" sz="1700" dirty="0"/>
          </a:p>
        </p:txBody>
      </p:sp>
      <p:sp>
        <p:nvSpPr>
          <p:cNvPr id="5" name="Shape 3"/>
          <p:cNvSpPr/>
          <p:nvPr/>
        </p:nvSpPr>
        <p:spPr>
          <a:xfrm>
            <a:off x="640080" y="2194560"/>
            <a:ext cx="5349240" cy="2743200"/>
          </a:xfrm>
          <a:prstGeom prst="rect">
            <a:avLst/>
          </a:prstGeom>
          <a:solidFill>
            <a:srgbClr val="F5F6F8"/>
          </a:solidFill>
          <a:ln w="12700">
            <a:solidFill>
              <a:srgbClr val="E3E6EC"/>
            </a:solidFill>
            <a:prstDash val="solid"/>
          </a:ln>
          <a:effectLst>
            <a:outerShdw sx="100000" sy="100000" kx="0" ky="0" algn="bl" rotWithShape="0" blurRad="101600" dist="38100" dir="8100000">
              <a:srgbClr val="000000">
                <a:alpha val="16000"/>
              </a:srgbClr>
            </a:outerShdw>
          </a:effectLst>
        </p:spPr>
      </p:sp>
      <p:sp>
        <p:nvSpPr>
          <p:cNvPr id="6" name="Shape 4"/>
          <p:cNvSpPr/>
          <p:nvPr/>
        </p:nvSpPr>
        <p:spPr>
          <a:xfrm>
            <a:off x="640080" y="2194560"/>
            <a:ext cx="5349240" cy="777240"/>
          </a:xfrm>
          <a:prstGeom prst="rect">
            <a:avLst/>
          </a:prstGeom>
          <a:solidFill>
            <a:srgbClr val="EF5B3C"/>
          </a:solidFill>
          <a:ln/>
        </p:spPr>
      </p:sp>
      <p:sp>
        <p:nvSpPr>
          <p:cNvPr id="7" name="Shape 5"/>
          <p:cNvSpPr/>
          <p:nvPr/>
        </p:nvSpPr>
        <p:spPr>
          <a:xfrm>
            <a:off x="932688" y="2340864"/>
            <a:ext cx="502920" cy="502920"/>
          </a:xfrm>
          <a:prstGeom prst="ellipse">
            <a:avLst/>
          </a:prstGeom>
          <a:solidFill>
            <a:srgbClr val="EF5B3C"/>
          </a:solidFill>
          <a:ln/>
          <a:effectLst>
            <a:outerShdw sx="100000" sy="100000" kx="0" ky="0" algn="bl" rotWithShape="0" blurRad="101600" dist="38100" dir="8100000">
              <a:srgbClr val="000000">
                <a:alpha val="16000"/>
              </a:srgbClr>
            </a:outerShdw>
          </a:effectLst>
        </p:spPr>
      </p:sp>
      <p:pic>
        <p:nvPicPr>
          <p:cNvPr id="8" name="Image 0" descr="preencoded.png">    </p:cNvPr>
          <p:cNvPicPr>
            <a:picLocks noChangeAspect="1"/>
          </p:cNvPicPr>
          <p:nvPr/>
        </p:nvPicPr>
        <p:blipFill>
          <a:blip r:embed="rId1"/>
          <a:stretch>
            <a:fillRect/>
          </a:stretch>
        </p:blipFill>
        <p:spPr>
          <a:xfrm>
            <a:off x="1068476" y="2476652"/>
            <a:ext cx="231343" cy="231343"/>
          </a:xfrm>
          <a:prstGeom prst="rect">
            <a:avLst/>
          </a:prstGeom>
        </p:spPr>
      </p:pic>
      <p:sp>
        <p:nvSpPr>
          <p:cNvPr id="9" name="Text 6"/>
          <p:cNvSpPr/>
          <p:nvPr/>
        </p:nvSpPr>
        <p:spPr>
          <a:xfrm>
            <a:off x="1600200" y="2194560"/>
            <a:ext cx="4251960" cy="77724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AI làm gì</a:t>
            </a:r>
            <a:endParaRPr lang="en-US" sz="1900" dirty="0"/>
          </a:p>
        </p:txBody>
      </p:sp>
      <p:sp>
        <p:nvSpPr>
          <p:cNvPr id="10" name="Text 7"/>
          <p:cNvSpPr/>
          <p:nvPr/>
        </p:nvSpPr>
        <p:spPr>
          <a:xfrm>
            <a:off x="1051560" y="3154680"/>
            <a:ext cx="4572000" cy="1600200"/>
          </a:xfrm>
          <a:prstGeom prst="rect">
            <a:avLst/>
          </a:prstGeom>
          <a:noFill/>
          <a:ln/>
        </p:spPr>
        <p:txBody>
          <a:bodyPr wrap="square" lIns="0" tIns="0" rIns="0" bIns="0" rtlCol="0" anchor="ctr"/>
          <a:lstStyle/>
          <a:p>
            <a:pPr marL="342900" indent="-342900">
              <a:spcAft>
                <a:spcPts val="800"/>
              </a:spcAft>
              <a:buSzPct val="100000"/>
              <a:buChar char="•"/>
            </a:pPr>
            <a:r>
              <a:rPr lang="en-US" sz="1550" dirty="0">
                <a:solidFill>
                  <a:srgbClr val="20283A"/>
                </a:solidFill>
                <a:latin typeface="Calibri" pitchFamily="34" charset="0"/>
                <a:ea typeface="Calibri" pitchFamily="34" charset="-122"/>
                <a:cs typeface="Calibri" pitchFamily="34" charset="-120"/>
              </a:rPr>
              <a:t>Hỏi 2–4 câu để hiểu nhu cầu</a:t>
            </a:r>
            <a:endParaRPr lang="en-US" sz="1550" dirty="0"/>
          </a:p>
          <a:p>
            <a:pPr marL="342900" indent="-342900">
              <a:spcAft>
                <a:spcPts val="800"/>
              </a:spcAft>
              <a:buSzPct val="100000"/>
              <a:buChar char="•"/>
            </a:pPr>
            <a:r>
              <a:rPr lang="en-US" sz="1550" dirty="0">
                <a:solidFill>
                  <a:srgbClr val="20283A"/>
                </a:solidFill>
                <a:latin typeface="Calibri" pitchFamily="34" charset="0"/>
                <a:ea typeface="Calibri" pitchFamily="34" charset="-122"/>
                <a:cs typeface="Calibri" pitchFamily="34" charset="-120"/>
              </a:rPr>
              <a:t>Lọc &amp; xếp hạng quán phù hợp gần bạn</a:t>
            </a:r>
            <a:endParaRPr lang="en-US" sz="1550" dirty="0"/>
          </a:p>
          <a:p>
            <a:pPr marL="342900" indent="-342900">
              <a:spcAft>
                <a:spcPts val="800"/>
              </a:spcAft>
              <a:buSzPct val="100000"/>
              <a:buChar char="•"/>
            </a:pPr>
            <a:r>
              <a:rPr lang="en-US" sz="1550" dirty="0">
                <a:solidFill>
                  <a:srgbClr val="20283A"/>
                </a:solidFill>
                <a:latin typeface="Calibri" pitchFamily="34" charset="0"/>
                <a:ea typeface="Calibri" pitchFamily="34" charset="-122"/>
                <a:cs typeface="Calibri" pitchFamily="34" charset="-120"/>
              </a:rPr>
              <a:t>Đưa 3 gợi ý kèm lý do ngắn gọn</a:t>
            </a:r>
            <a:endParaRPr lang="en-US" sz="1550" dirty="0"/>
          </a:p>
          <a:p>
            <a:pPr marL="342900" indent="-342900">
              <a:spcAft>
                <a:spcPts val="800"/>
              </a:spcAft>
              <a:buSzPct val="100000"/>
              <a:buChar char="•"/>
            </a:pPr>
            <a:r>
              <a:rPr lang="en-US" sz="1550" dirty="0">
                <a:solidFill>
                  <a:srgbClr val="20283A"/>
                </a:solidFill>
                <a:latin typeface="Calibri" pitchFamily="34" charset="0"/>
                <a:ea typeface="Calibri" pitchFamily="34" charset="-122"/>
                <a:cs typeface="Calibri" pitchFamily="34" charset="-120"/>
              </a:rPr>
              <a:t>Cảnh báo khi dữ liệu chưa chắc chắn</a:t>
            </a:r>
            <a:endParaRPr lang="en-US" sz="1550" dirty="0"/>
          </a:p>
        </p:txBody>
      </p:sp>
      <p:sp>
        <p:nvSpPr>
          <p:cNvPr id="11" name="Shape 8"/>
          <p:cNvSpPr/>
          <p:nvPr/>
        </p:nvSpPr>
        <p:spPr>
          <a:xfrm>
            <a:off x="6199632" y="2194560"/>
            <a:ext cx="5349240" cy="2743200"/>
          </a:xfrm>
          <a:prstGeom prst="rect">
            <a:avLst/>
          </a:prstGeom>
          <a:solidFill>
            <a:srgbClr val="F5F6F8"/>
          </a:solidFill>
          <a:ln w="12700">
            <a:solidFill>
              <a:srgbClr val="E3E6EC"/>
            </a:solidFill>
            <a:prstDash val="solid"/>
          </a:ln>
          <a:effectLst>
            <a:outerShdw sx="100000" sy="100000" kx="0" ky="0" algn="bl" rotWithShape="0" blurRad="101600" dist="38100" dir="8100000">
              <a:srgbClr val="000000">
                <a:alpha val="16000"/>
              </a:srgbClr>
            </a:outerShdw>
          </a:effectLst>
        </p:spPr>
      </p:sp>
      <p:sp>
        <p:nvSpPr>
          <p:cNvPr id="12" name="Shape 9"/>
          <p:cNvSpPr/>
          <p:nvPr/>
        </p:nvSpPr>
        <p:spPr>
          <a:xfrm>
            <a:off x="6199632" y="2194560"/>
            <a:ext cx="5349240" cy="777240"/>
          </a:xfrm>
          <a:prstGeom prst="rect">
            <a:avLst/>
          </a:prstGeom>
          <a:solidFill>
            <a:srgbClr val="1B9E8A"/>
          </a:solidFill>
          <a:ln/>
        </p:spPr>
      </p:sp>
      <p:sp>
        <p:nvSpPr>
          <p:cNvPr id="13" name="Shape 10"/>
          <p:cNvSpPr/>
          <p:nvPr/>
        </p:nvSpPr>
        <p:spPr>
          <a:xfrm>
            <a:off x="6492240" y="2340864"/>
            <a:ext cx="502920" cy="502920"/>
          </a:xfrm>
          <a:prstGeom prst="ellipse">
            <a:avLst/>
          </a:prstGeom>
          <a:solidFill>
            <a:srgbClr val="1B9E8A"/>
          </a:solidFill>
          <a:ln/>
          <a:effectLst>
            <a:outerShdw sx="100000" sy="100000" kx="0" ky="0" algn="bl" rotWithShape="0" blurRad="101600" dist="38100" dir="8100000">
              <a:srgbClr val="000000">
                <a:alpha val="16000"/>
              </a:srgbClr>
            </a:outerShdw>
          </a:effectLst>
        </p:spPr>
      </p:sp>
      <p:pic>
        <p:nvPicPr>
          <p:cNvPr id="14" name="Image 1" descr="preencoded.png">    </p:cNvPr>
          <p:cNvPicPr>
            <a:picLocks noChangeAspect="1"/>
          </p:cNvPicPr>
          <p:nvPr/>
        </p:nvPicPr>
        <p:blipFill>
          <a:blip r:embed="rId2"/>
          <a:stretch>
            <a:fillRect/>
          </a:stretch>
        </p:blipFill>
        <p:spPr>
          <a:xfrm>
            <a:off x="6628028" y="2476652"/>
            <a:ext cx="231343" cy="231343"/>
          </a:xfrm>
          <a:prstGeom prst="rect">
            <a:avLst/>
          </a:prstGeom>
        </p:spPr>
      </p:pic>
      <p:sp>
        <p:nvSpPr>
          <p:cNvPr id="15" name="Text 11"/>
          <p:cNvSpPr/>
          <p:nvPr/>
        </p:nvSpPr>
        <p:spPr>
          <a:xfrm>
            <a:off x="7159752" y="2194560"/>
            <a:ext cx="4251960" cy="77724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Người dùng giữ quyền</a:t>
            </a:r>
            <a:endParaRPr lang="en-US" sz="1900" dirty="0"/>
          </a:p>
        </p:txBody>
      </p:sp>
      <p:sp>
        <p:nvSpPr>
          <p:cNvPr id="16" name="Text 12"/>
          <p:cNvSpPr/>
          <p:nvPr/>
        </p:nvSpPr>
        <p:spPr>
          <a:xfrm>
            <a:off x="6611112" y="3154680"/>
            <a:ext cx="4572000" cy="1600200"/>
          </a:xfrm>
          <a:prstGeom prst="rect">
            <a:avLst/>
          </a:prstGeom>
          <a:noFill/>
          <a:ln/>
        </p:spPr>
        <p:txBody>
          <a:bodyPr wrap="square" lIns="0" tIns="0" rIns="0" bIns="0" rtlCol="0" anchor="ctr"/>
          <a:lstStyle/>
          <a:p>
            <a:pPr marL="342900" indent="-342900">
              <a:spcAft>
                <a:spcPts val="800"/>
              </a:spcAft>
              <a:buSzPct val="100000"/>
              <a:buChar char="•"/>
            </a:pPr>
            <a:r>
              <a:rPr lang="en-US" sz="1550" dirty="0">
                <a:solidFill>
                  <a:srgbClr val="20283A"/>
                </a:solidFill>
                <a:latin typeface="Calibri" pitchFamily="34" charset="0"/>
                <a:ea typeface="Calibri" pitchFamily="34" charset="-122"/>
                <a:cs typeface="Calibri" pitchFamily="34" charset="-120"/>
              </a:rPr>
              <a:t>Chọn tiêu chí ban đầu</a:t>
            </a:r>
            <a:endParaRPr lang="en-US" sz="1550" dirty="0"/>
          </a:p>
          <a:p>
            <a:pPr marL="342900" indent="-342900">
              <a:spcAft>
                <a:spcPts val="800"/>
              </a:spcAft>
              <a:buSzPct val="100000"/>
              <a:buChar char="•"/>
            </a:pPr>
            <a:r>
              <a:rPr lang="en-US" sz="1550" dirty="0">
                <a:solidFill>
                  <a:srgbClr val="20283A"/>
                </a:solidFill>
                <a:latin typeface="Calibri" pitchFamily="34" charset="0"/>
                <a:ea typeface="Calibri" pitchFamily="34" charset="-122"/>
                <a:cs typeface="Calibri" pitchFamily="34" charset="-120"/>
              </a:rPr>
              <a:t>Chọn quán cuối cùng</a:t>
            </a:r>
            <a:endParaRPr lang="en-US" sz="1550" dirty="0"/>
          </a:p>
          <a:p>
            <a:pPr marL="342900" indent="-342900">
              <a:spcAft>
                <a:spcPts val="800"/>
              </a:spcAft>
              <a:buSzPct val="100000"/>
              <a:buChar char="•"/>
            </a:pPr>
            <a:r>
              <a:rPr lang="en-US" sz="1550" dirty="0">
                <a:solidFill>
                  <a:srgbClr val="20283A"/>
                </a:solidFill>
                <a:latin typeface="Calibri" pitchFamily="34" charset="0"/>
                <a:ea typeface="Calibri" pitchFamily="34" charset="-122"/>
                <a:cs typeface="Calibri" pitchFamily="34" charset="-120"/>
              </a:rPr>
              <a:t>Bấm chỉ đường / gọi quán</a:t>
            </a:r>
            <a:endParaRPr lang="en-US" sz="1550" dirty="0"/>
          </a:p>
          <a:p>
            <a:pPr marL="342900" indent="-342900">
              <a:spcAft>
                <a:spcPts val="800"/>
              </a:spcAft>
              <a:buSzPct val="100000"/>
              <a:buChar char="•"/>
            </a:pPr>
            <a:r>
              <a:rPr lang="en-US" sz="1550" dirty="0">
                <a:solidFill>
                  <a:srgbClr val="20283A"/>
                </a:solidFill>
                <a:latin typeface="Calibri" pitchFamily="34" charset="0"/>
                <a:ea typeface="Calibri" pitchFamily="34" charset="-122"/>
                <a:cs typeface="Calibri" pitchFamily="34" charset="-120"/>
              </a:rPr>
              <a:t>Đặt món qua nền tảng bên ngoài</a:t>
            </a:r>
            <a:endParaRPr lang="en-US" sz="1550" dirty="0"/>
          </a:p>
        </p:txBody>
      </p:sp>
      <p:sp>
        <p:nvSpPr>
          <p:cNvPr id="17" name="Shape 13"/>
          <p:cNvSpPr/>
          <p:nvPr/>
        </p:nvSpPr>
        <p:spPr>
          <a:xfrm>
            <a:off x="640080" y="5257800"/>
            <a:ext cx="10908792" cy="1051560"/>
          </a:xfrm>
          <a:prstGeom prst="rect">
            <a:avLst/>
          </a:prstGeom>
          <a:solidFill>
            <a:srgbClr val="16243F"/>
          </a:solidFill>
          <a:ln/>
        </p:spPr>
      </p:sp>
      <p:sp>
        <p:nvSpPr>
          <p:cNvPr id="18" name="Text 14"/>
          <p:cNvSpPr/>
          <p:nvPr/>
        </p:nvSpPr>
        <p:spPr>
          <a:xfrm>
            <a:off x="960120" y="5257800"/>
            <a:ext cx="10332720" cy="1051560"/>
          </a:xfrm>
          <a:prstGeom prst="rect">
            <a:avLst/>
          </a:prstGeom>
          <a:noFill/>
          <a:ln/>
        </p:spPr>
        <p:txBody>
          <a:bodyPr wrap="square" lIns="0" tIns="0" rIns="0" bIns="0" rtlCol="0" anchor="ctr"/>
          <a:lstStyle/>
          <a:p>
            <a:pPr indent="0" marL="0">
              <a:lnSpc>
                <a:spcPct val="108000"/>
              </a:lnSpc>
              <a:buNone/>
            </a:pPr>
            <a:r>
              <a:rPr lang="en-US" sz="1600" b="1" dirty="0">
                <a:solidFill>
                  <a:srgbClr val="F2A03D"/>
                </a:solidFill>
                <a:latin typeface="Calibri" pitchFamily="34" charset="0"/>
                <a:ea typeface="Calibri" pitchFamily="34" charset="-122"/>
                <a:cs typeface="Calibri" pitchFamily="34" charset="-120"/>
              </a:rPr>
              <a:t>Vì sao không Automate?  </a:t>
            </a:r>
            <a:pPr indent="0" marL="0">
              <a:lnSpc>
                <a:spcPct val="108000"/>
              </a:lnSpc>
              <a:buNone/>
            </a:pPr>
            <a:r>
              <a:rPr lang="en-US" sz="1600" dirty="0">
                <a:solidFill>
                  <a:srgbClr val="FFFFFF"/>
                </a:solidFill>
                <a:latin typeface="Calibri" pitchFamily="34" charset="0"/>
                <a:ea typeface="Calibri" pitchFamily="34" charset="-122"/>
                <a:cs typeface="Calibri" pitchFamily="34" charset="-120"/>
              </a:rPr>
              <a:t>Dữ liệu quán đổi liên tục (đóng cửa, hết món, đổi giá) cộng với khẩu vị và dị ứng cá nhân — để AI tự quyết sẽ gây rủi ro sức khỏe và mất công di chuyển.</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243F"/>
        </a:solidFill>
      </p:bgPr>
    </p:bg>
    <p:spTree>
      <p:nvGrpSpPr>
        <p:cNvPr id="1" name=""/>
        <p:cNvGrpSpPr/>
        <p:nvPr/>
      </p:nvGrpSpPr>
      <p:grpSpPr>
        <a:xfrm>
          <a:off x="0" y="0"/>
          <a:ext cx="0" cy="0"/>
          <a:chOff x="0" y="0"/>
          <a:chExt cx="0" cy="0"/>
        </a:xfrm>
      </p:grpSpPr>
      <p:sp>
        <p:nvSpPr>
          <p:cNvPr id="2" name="Text 0"/>
          <p:cNvSpPr/>
          <p:nvPr/>
        </p:nvSpPr>
        <p:spPr>
          <a:xfrm>
            <a:off x="640080" y="420624"/>
            <a:ext cx="10881360" cy="292608"/>
          </a:xfrm>
          <a:prstGeom prst="rect">
            <a:avLst/>
          </a:prstGeom>
          <a:noFill/>
          <a:ln/>
        </p:spPr>
        <p:txBody>
          <a:bodyPr wrap="square" lIns="0" tIns="0" rIns="0" bIns="0" rtlCol="0" anchor="ctr"/>
          <a:lstStyle/>
          <a:p>
            <a:pPr algn="l" indent="0" marL="0">
              <a:buNone/>
            </a:pPr>
            <a:r>
              <a:rPr lang="en-US" sz="1300" b="1" spc="300" kern="0" dirty="0">
                <a:solidFill>
                  <a:srgbClr val="F2A03D"/>
                </a:solidFill>
                <a:latin typeface="Calibri" pitchFamily="34" charset="0"/>
                <a:ea typeface="Calibri" pitchFamily="34" charset="-122"/>
                <a:cs typeface="Calibri" pitchFamily="34" charset="-120"/>
              </a:rPr>
              <a:t>06 · BÀI HỌC</a:t>
            </a:r>
            <a:endParaRPr lang="en-US" sz="1300" dirty="0"/>
          </a:p>
        </p:txBody>
      </p:sp>
      <p:sp>
        <p:nvSpPr>
          <p:cNvPr id="3" name="Text 1"/>
          <p:cNvSpPr/>
          <p:nvPr/>
        </p:nvSpPr>
        <p:spPr>
          <a:xfrm>
            <a:off x="640080" y="749808"/>
            <a:ext cx="10881360" cy="822960"/>
          </a:xfrm>
          <a:prstGeom prst="rect">
            <a:avLst/>
          </a:prstGeom>
          <a:noFill/>
          <a:ln/>
        </p:spPr>
        <p:txBody>
          <a:bodyPr wrap="square" lIns="0" tIns="0" rIns="0" bIns="0" rtlCol="0" anchor="ctr"/>
          <a:lstStyle/>
          <a:p>
            <a:pPr indent="0" marL="0">
              <a:buNone/>
            </a:pPr>
            <a:r>
              <a:rPr lang="en-US" sz="3300" b="1" dirty="0">
                <a:solidFill>
                  <a:srgbClr val="FFFFFF"/>
                </a:solidFill>
                <a:latin typeface="Georgia" pitchFamily="34" charset="0"/>
                <a:ea typeface="Georgia" pitchFamily="34" charset="-122"/>
                <a:cs typeface="Georgia" pitchFamily="34" charset="-120"/>
              </a:rPr>
              <a:t>Bài học &amp; bước tiếp theo</a:t>
            </a:r>
            <a:endParaRPr lang="en-US" sz="3300" dirty="0"/>
          </a:p>
        </p:txBody>
      </p:sp>
      <p:sp>
        <p:nvSpPr>
          <p:cNvPr id="4" name="Shape 2"/>
          <p:cNvSpPr/>
          <p:nvPr/>
        </p:nvSpPr>
        <p:spPr>
          <a:xfrm>
            <a:off x="640080" y="2011680"/>
            <a:ext cx="3456432" cy="3291840"/>
          </a:xfrm>
          <a:prstGeom prst="rect">
            <a:avLst/>
          </a:prstGeom>
          <a:solidFill>
            <a:srgbClr val="20335A"/>
          </a:solidFill>
          <a:ln w="12700">
            <a:solidFill>
              <a:srgbClr val="32436B"/>
            </a:solidFill>
            <a:prstDash val="solid"/>
          </a:ln>
          <a:effectLst>
            <a:outerShdw sx="100000" sy="100000" kx="0" ky="0" algn="bl" rotWithShape="0" blurRad="101600" dist="38100" dir="8100000">
              <a:srgbClr val="000000">
                <a:alpha val="16000"/>
              </a:srgbClr>
            </a:outerShdw>
          </a:effectLst>
        </p:spPr>
      </p:sp>
      <p:sp>
        <p:nvSpPr>
          <p:cNvPr id="5" name="Shape 3"/>
          <p:cNvSpPr/>
          <p:nvPr/>
        </p:nvSpPr>
        <p:spPr>
          <a:xfrm>
            <a:off x="640080" y="2011680"/>
            <a:ext cx="3456432" cy="109728"/>
          </a:xfrm>
          <a:prstGeom prst="rect">
            <a:avLst/>
          </a:prstGeom>
          <a:solidFill>
            <a:srgbClr val="2EA86A"/>
          </a:solidFill>
          <a:ln/>
        </p:spPr>
      </p:sp>
      <p:sp>
        <p:nvSpPr>
          <p:cNvPr id="6" name="Shape 4"/>
          <p:cNvSpPr/>
          <p:nvPr/>
        </p:nvSpPr>
        <p:spPr>
          <a:xfrm>
            <a:off x="1005840" y="2395728"/>
            <a:ext cx="731520" cy="731520"/>
          </a:xfrm>
          <a:prstGeom prst="ellipse">
            <a:avLst/>
          </a:prstGeom>
          <a:solidFill>
            <a:srgbClr val="2EA86A"/>
          </a:solidFill>
          <a:ln/>
          <a:effectLst>
            <a:outerShdw sx="100000" sy="100000" kx="0" ky="0" algn="bl" rotWithShape="0" blurRad="101600" dist="38100" dir="8100000">
              <a:srgbClr val="000000">
                <a:alpha val="16000"/>
              </a:srgbClr>
            </a:outerShdw>
          </a:effectLst>
        </p:spPr>
      </p:sp>
      <p:pic>
        <p:nvPicPr>
          <p:cNvPr id="7" name="Image 0" descr="preencoded.png">    </p:cNvPr>
          <p:cNvPicPr>
            <a:picLocks noChangeAspect="1"/>
          </p:cNvPicPr>
          <p:nvPr/>
        </p:nvPicPr>
        <p:blipFill>
          <a:blip r:embed="rId1"/>
          <a:stretch>
            <a:fillRect/>
          </a:stretch>
        </p:blipFill>
        <p:spPr>
          <a:xfrm>
            <a:off x="1203350" y="2593238"/>
            <a:ext cx="336499" cy="336499"/>
          </a:xfrm>
          <a:prstGeom prst="rect">
            <a:avLst/>
          </a:prstGeom>
        </p:spPr>
      </p:pic>
      <p:sp>
        <p:nvSpPr>
          <p:cNvPr id="8" name="Text 5"/>
          <p:cNvSpPr/>
          <p:nvPr/>
        </p:nvSpPr>
        <p:spPr>
          <a:xfrm>
            <a:off x="1847088" y="2395728"/>
            <a:ext cx="2084832" cy="73152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Đã làm được</a:t>
            </a:r>
            <a:endParaRPr lang="en-US" sz="1900" dirty="0"/>
          </a:p>
        </p:txBody>
      </p:sp>
      <p:sp>
        <p:nvSpPr>
          <p:cNvPr id="9" name="Text 6"/>
          <p:cNvSpPr/>
          <p:nvPr/>
        </p:nvSpPr>
        <p:spPr>
          <a:xfrm>
            <a:off x="1024128" y="3337560"/>
            <a:ext cx="2724912" cy="1828800"/>
          </a:xfrm>
          <a:prstGeom prst="rect">
            <a:avLst/>
          </a:prstGeom>
          <a:noFill/>
          <a:ln/>
        </p:spPr>
        <p:txBody>
          <a:bodyPr wrap="square" lIns="0" tIns="0" rIns="0" bIns="0" rtlCol="0" anchor="ctr"/>
          <a:lstStyle/>
          <a:p>
            <a:pPr marL="342900" indent="-342900">
              <a:lnSpc>
                <a:spcPct val="105000"/>
              </a:lnSpc>
              <a:spcAft>
                <a:spcPts val="1000"/>
              </a:spcAft>
              <a:buSzPct val="100000"/>
              <a:buChar char="•"/>
            </a:pPr>
            <a:r>
              <a:rPr lang="en-US" sz="1450" dirty="0">
                <a:solidFill>
                  <a:srgbClr val="C7D2E6"/>
                </a:solidFill>
                <a:latin typeface="Calibri" pitchFamily="34" charset="0"/>
                <a:ea typeface="Calibri" pitchFamily="34" charset="-122"/>
                <a:cs typeface="Calibri" pitchFamily="34" charset="-120"/>
              </a:rPr>
              <a:t>MCQ → AI gợi ý 3 quán + lý do</a:t>
            </a:r>
            <a:endParaRPr lang="en-US" sz="1450" dirty="0"/>
          </a:p>
          <a:p>
            <a:pPr marL="342900" indent="-342900">
              <a:lnSpc>
                <a:spcPct val="105000"/>
              </a:lnSpc>
              <a:spcAft>
                <a:spcPts val="1000"/>
              </a:spcAft>
              <a:buSzPct val="100000"/>
              <a:buChar char="•"/>
            </a:pPr>
            <a:r>
              <a:rPr lang="en-US" sz="1450" dirty="0">
                <a:solidFill>
                  <a:srgbClr val="C7D2E6"/>
                </a:solidFill>
                <a:latin typeface="Calibri" pitchFamily="34" charset="0"/>
                <a:ea typeface="Calibri" pitchFamily="34" charset="-122"/>
                <a:cs typeface="Calibri" pitchFamily="34" charset="-120"/>
              </a:rPr>
              <a:t>Lấy vị trí &amp; quán thật từ Google</a:t>
            </a:r>
            <a:endParaRPr lang="en-US" sz="1450" dirty="0"/>
          </a:p>
          <a:p>
            <a:pPr marL="342900" indent="-342900">
              <a:lnSpc>
                <a:spcPct val="105000"/>
              </a:lnSpc>
              <a:spcAft>
                <a:spcPts val="1000"/>
              </a:spcAft>
              <a:buSzPct val="100000"/>
              <a:buChar char="•"/>
            </a:pPr>
            <a:r>
              <a:rPr lang="en-US" sz="1450" dirty="0">
                <a:solidFill>
                  <a:srgbClr val="C7D2E6"/>
                </a:solidFill>
                <a:latin typeface="Calibri" pitchFamily="34" charset="0"/>
                <a:ea typeface="Calibri" pitchFamily="34" charset="-122"/>
                <a:cs typeface="Calibri" pitchFamily="34" charset="-120"/>
              </a:rPr>
              <a:t>Xử lý đủ 4 paths của SPEC</a:t>
            </a:r>
            <a:endParaRPr lang="en-US" sz="1450" dirty="0"/>
          </a:p>
          <a:p>
            <a:pPr marL="342900" indent="-342900">
              <a:lnSpc>
                <a:spcPct val="105000"/>
              </a:lnSpc>
              <a:spcAft>
                <a:spcPts val="1000"/>
              </a:spcAft>
              <a:buSzPct val="100000"/>
              <a:buChar char="•"/>
            </a:pPr>
            <a:r>
              <a:rPr lang="en-US" sz="1450" dirty="0">
                <a:solidFill>
                  <a:srgbClr val="C7D2E6"/>
                </a:solidFill>
                <a:latin typeface="Calibri" pitchFamily="34" charset="0"/>
                <a:ea typeface="Calibri" pitchFamily="34" charset="-122"/>
                <a:cs typeface="Calibri" pitchFamily="34" charset="-120"/>
              </a:rPr>
              <a:t>Deep-link Google Maps chỉ đường</a:t>
            </a:r>
            <a:endParaRPr lang="en-US" sz="1450" dirty="0"/>
          </a:p>
        </p:txBody>
      </p:sp>
      <p:sp>
        <p:nvSpPr>
          <p:cNvPr id="10" name="Shape 7"/>
          <p:cNvSpPr/>
          <p:nvPr/>
        </p:nvSpPr>
        <p:spPr>
          <a:xfrm>
            <a:off x="4361688" y="2011680"/>
            <a:ext cx="3456432" cy="3291840"/>
          </a:xfrm>
          <a:prstGeom prst="rect">
            <a:avLst/>
          </a:prstGeom>
          <a:solidFill>
            <a:srgbClr val="20335A"/>
          </a:solidFill>
          <a:ln w="12700">
            <a:solidFill>
              <a:srgbClr val="32436B"/>
            </a:solidFill>
            <a:prstDash val="solid"/>
          </a:ln>
          <a:effectLst>
            <a:outerShdw sx="100000" sy="100000" kx="0" ky="0" algn="bl" rotWithShape="0" blurRad="101600" dist="38100" dir="8100000">
              <a:srgbClr val="000000">
                <a:alpha val="16000"/>
              </a:srgbClr>
            </a:outerShdw>
          </a:effectLst>
        </p:spPr>
      </p:sp>
      <p:sp>
        <p:nvSpPr>
          <p:cNvPr id="11" name="Shape 8"/>
          <p:cNvSpPr/>
          <p:nvPr/>
        </p:nvSpPr>
        <p:spPr>
          <a:xfrm>
            <a:off x="4361688" y="2011680"/>
            <a:ext cx="3456432" cy="109728"/>
          </a:xfrm>
          <a:prstGeom prst="rect">
            <a:avLst/>
          </a:prstGeom>
          <a:solidFill>
            <a:srgbClr val="F2A03D"/>
          </a:solidFill>
          <a:ln/>
        </p:spPr>
      </p:sp>
      <p:sp>
        <p:nvSpPr>
          <p:cNvPr id="12" name="Shape 9"/>
          <p:cNvSpPr/>
          <p:nvPr/>
        </p:nvSpPr>
        <p:spPr>
          <a:xfrm>
            <a:off x="4727448" y="2395728"/>
            <a:ext cx="731520" cy="731520"/>
          </a:xfrm>
          <a:prstGeom prst="ellipse">
            <a:avLst/>
          </a:prstGeom>
          <a:solidFill>
            <a:srgbClr val="F2A03D"/>
          </a:solidFill>
          <a:ln/>
          <a:effectLst>
            <a:outerShdw sx="100000" sy="100000" kx="0" ky="0" algn="bl" rotWithShape="0" blurRad="101600" dist="38100" dir="8100000">
              <a:srgbClr val="000000">
                <a:alpha val="16000"/>
              </a:srgbClr>
            </a:outerShdw>
          </a:effectLst>
        </p:spPr>
      </p:sp>
      <p:pic>
        <p:nvPicPr>
          <p:cNvPr id="13" name="Image 1" descr="preencoded.png">    </p:cNvPr>
          <p:cNvPicPr>
            <a:picLocks noChangeAspect="1"/>
          </p:cNvPicPr>
          <p:nvPr/>
        </p:nvPicPr>
        <p:blipFill>
          <a:blip r:embed="rId2"/>
          <a:stretch>
            <a:fillRect/>
          </a:stretch>
        </p:blipFill>
        <p:spPr>
          <a:xfrm>
            <a:off x="4924958" y="2593238"/>
            <a:ext cx="336499" cy="336499"/>
          </a:xfrm>
          <a:prstGeom prst="rect">
            <a:avLst/>
          </a:prstGeom>
        </p:spPr>
      </p:pic>
      <p:sp>
        <p:nvSpPr>
          <p:cNvPr id="14" name="Text 10"/>
          <p:cNvSpPr/>
          <p:nvPr/>
        </p:nvSpPr>
        <p:spPr>
          <a:xfrm>
            <a:off x="5568696" y="2395728"/>
            <a:ext cx="2084832" cy="73152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Chưa build</a:t>
            </a:r>
            <a:endParaRPr lang="en-US" sz="1900" dirty="0"/>
          </a:p>
        </p:txBody>
      </p:sp>
      <p:sp>
        <p:nvSpPr>
          <p:cNvPr id="15" name="Text 11"/>
          <p:cNvSpPr/>
          <p:nvPr/>
        </p:nvSpPr>
        <p:spPr>
          <a:xfrm>
            <a:off x="4745736" y="3337560"/>
            <a:ext cx="2724912" cy="1828800"/>
          </a:xfrm>
          <a:prstGeom prst="rect">
            <a:avLst/>
          </a:prstGeom>
          <a:noFill/>
          <a:ln/>
        </p:spPr>
        <p:txBody>
          <a:bodyPr wrap="square" lIns="0" tIns="0" rIns="0" bIns="0" rtlCol="0" anchor="ctr"/>
          <a:lstStyle/>
          <a:p>
            <a:pPr marL="342900" indent="-342900">
              <a:lnSpc>
                <a:spcPct val="105000"/>
              </a:lnSpc>
              <a:spcAft>
                <a:spcPts val="1000"/>
              </a:spcAft>
              <a:buSzPct val="100000"/>
              <a:buChar char="•"/>
            </a:pPr>
            <a:r>
              <a:rPr lang="en-US" sz="1450" dirty="0">
                <a:solidFill>
                  <a:srgbClr val="C7D2E6"/>
                </a:solidFill>
                <a:latin typeface="Calibri" pitchFamily="34" charset="0"/>
                <a:ea typeface="Calibri" pitchFamily="34" charset="-122"/>
                <a:cs typeface="Calibri" pitchFamily="34" charset="-120"/>
              </a:rPr>
              <a:t>Đặt bàn trực tiếp qua AI</a:t>
            </a:r>
            <a:endParaRPr lang="en-US" sz="1450" dirty="0"/>
          </a:p>
          <a:p>
            <a:pPr marL="342900" indent="-342900">
              <a:lnSpc>
                <a:spcPct val="105000"/>
              </a:lnSpc>
              <a:spcAft>
                <a:spcPts val="1000"/>
              </a:spcAft>
              <a:buSzPct val="100000"/>
              <a:buChar char="•"/>
            </a:pPr>
            <a:r>
              <a:rPr lang="en-US" sz="1450" dirty="0">
                <a:solidFill>
                  <a:srgbClr val="C7D2E6"/>
                </a:solidFill>
                <a:latin typeface="Calibri" pitchFamily="34" charset="0"/>
                <a:ea typeface="Calibri" pitchFamily="34" charset="-122"/>
                <a:cs typeface="Calibri" pitchFamily="34" charset="-120"/>
              </a:rPr>
              <a:t>Đặt đồ ăn giao tận nơi</a:t>
            </a:r>
            <a:endParaRPr lang="en-US" sz="1450" dirty="0"/>
          </a:p>
          <a:p>
            <a:pPr marL="342900" indent="-342900">
              <a:lnSpc>
                <a:spcPct val="105000"/>
              </a:lnSpc>
              <a:spcAft>
                <a:spcPts val="1000"/>
              </a:spcAft>
              <a:buSzPct val="100000"/>
              <a:buChar char="•"/>
            </a:pPr>
            <a:r>
              <a:rPr lang="en-US" sz="1450" dirty="0">
                <a:solidFill>
                  <a:srgbClr val="C7D2E6"/>
                </a:solidFill>
                <a:latin typeface="Calibri" pitchFamily="34" charset="0"/>
                <a:ea typeface="Calibri" pitchFamily="34" charset="-122"/>
                <a:cs typeface="Calibri" pitchFamily="34" charset="-120"/>
              </a:rPr>
              <a:t>Thanh toán &amp; ưu đãi voucher</a:t>
            </a:r>
            <a:endParaRPr lang="en-US" sz="1450" dirty="0"/>
          </a:p>
        </p:txBody>
      </p:sp>
      <p:sp>
        <p:nvSpPr>
          <p:cNvPr id="16" name="Shape 12"/>
          <p:cNvSpPr/>
          <p:nvPr/>
        </p:nvSpPr>
        <p:spPr>
          <a:xfrm>
            <a:off x="8083296" y="2011680"/>
            <a:ext cx="3456432" cy="3291840"/>
          </a:xfrm>
          <a:prstGeom prst="rect">
            <a:avLst/>
          </a:prstGeom>
          <a:solidFill>
            <a:srgbClr val="20335A"/>
          </a:solidFill>
          <a:ln w="12700">
            <a:solidFill>
              <a:srgbClr val="32436B"/>
            </a:solidFill>
            <a:prstDash val="solid"/>
          </a:ln>
          <a:effectLst>
            <a:outerShdw sx="100000" sy="100000" kx="0" ky="0" algn="bl" rotWithShape="0" blurRad="101600" dist="38100" dir="8100000">
              <a:srgbClr val="000000">
                <a:alpha val="16000"/>
              </a:srgbClr>
            </a:outerShdw>
          </a:effectLst>
        </p:spPr>
      </p:sp>
      <p:sp>
        <p:nvSpPr>
          <p:cNvPr id="17" name="Shape 13"/>
          <p:cNvSpPr/>
          <p:nvPr/>
        </p:nvSpPr>
        <p:spPr>
          <a:xfrm>
            <a:off x="8083296" y="2011680"/>
            <a:ext cx="3456432" cy="109728"/>
          </a:xfrm>
          <a:prstGeom prst="rect">
            <a:avLst/>
          </a:prstGeom>
          <a:solidFill>
            <a:srgbClr val="EF5B3C"/>
          </a:solidFill>
          <a:ln/>
        </p:spPr>
      </p:sp>
      <p:sp>
        <p:nvSpPr>
          <p:cNvPr id="18" name="Shape 14"/>
          <p:cNvSpPr/>
          <p:nvPr/>
        </p:nvSpPr>
        <p:spPr>
          <a:xfrm>
            <a:off x="8449056" y="2395728"/>
            <a:ext cx="731520" cy="731520"/>
          </a:xfrm>
          <a:prstGeom prst="ellipse">
            <a:avLst/>
          </a:prstGeom>
          <a:solidFill>
            <a:srgbClr val="EF5B3C"/>
          </a:solidFill>
          <a:ln/>
          <a:effectLst>
            <a:outerShdw sx="100000" sy="100000" kx="0" ky="0" algn="bl" rotWithShape="0" blurRad="101600" dist="38100" dir="8100000">
              <a:srgbClr val="000000">
                <a:alpha val="16000"/>
              </a:srgbClr>
            </a:outerShdw>
          </a:effectLst>
        </p:spPr>
      </p:sp>
      <p:pic>
        <p:nvPicPr>
          <p:cNvPr id="19" name="Image 2" descr="preencoded.png">    </p:cNvPr>
          <p:cNvPicPr>
            <a:picLocks noChangeAspect="1"/>
          </p:cNvPicPr>
          <p:nvPr/>
        </p:nvPicPr>
        <p:blipFill>
          <a:blip r:embed="rId3"/>
          <a:stretch>
            <a:fillRect/>
          </a:stretch>
        </p:blipFill>
        <p:spPr>
          <a:xfrm>
            <a:off x="8646566" y="2593238"/>
            <a:ext cx="336499" cy="336499"/>
          </a:xfrm>
          <a:prstGeom prst="rect">
            <a:avLst/>
          </a:prstGeom>
        </p:spPr>
      </p:pic>
      <p:sp>
        <p:nvSpPr>
          <p:cNvPr id="20" name="Text 15"/>
          <p:cNvSpPr/>
          <p:nvPr/>
        </p:nvSpPr>
        <p:spPr>
          <a:xfrm>
            <a:off x="9290304" y="2395728"/>
            <a:ext cx="2084832" cy="73152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Nếu có thêm 1 ngày</a:t>
            </a:r>
            <a:endParaRPr lang="en-US" sz="1900" dirty="0"/>
          </a:p>
        </p:txBody>
      </p:sp>
      <p:sp>
        <p:nvSpPr>
          <p:cNvPr id="21" name="Text 16"/>
          <p:cNvSpPr/>
          <p:nvPr/>
        </p:nvSpPr>
        <p:spPr>
          <a:xfrm>
            <a:off x="8467344" y="3337560"/>
            <a:ext cx="2724912" cy="1828800"/>
          </a:xfrm>
          <a:prstGeom prst="rect">
            <a:avLst/>
          </a:prstGeom>
          <a:noFill/>
          <a:ln/>
        </p:spPr>
        <p:txBody>
          <a:bodyPr wrap="square" lIns="0" tIns="0" rIns="0" bIns="0" rtlCol="0" anchor="ctr"/>
          <a:lstStyle/>
          <a:p>
            <a:pPr marL="342900" indent="-342900">
              <a:lnSpc>
                <a:spcPct val="105000"/>
              </a:lnSpc>
              <a:spcAft>
                <a:spcPts val="1000"/>
              </a:spcAft>
              <a:buSzPct val="100000"/>
              <a:buChar char="•"/>
            </a:pPr>
            <a:r>
              <a:rPr lang="en-US" sz="1450" dirty="0">
                <a:solidFill>
                  <a:srgbClr val="C7D2E6"/>
                </a:solidFill>
                <a:latin typeface="Calibri" pitchFamily="34" charset="0"/>
                <a:ea typeface="Calibri" pitchFamily="34" charset="-122"/>
                <a:cs typeface="Calibri" pitchFamily="34" charset="-120"/>
              </a:rPr>
              <a:t>Cá nhân hóa theo lịch sử chọn quán</a:t>
            </a:r>
            <a:endParaRPr lang="en-US" sz="1450" dirty="0"/>
          </a:p>
          <a:p>
            <a:pPr marL="342900" indent="-342900">
              <a:lnSpc>
                <a:spcPct val="105000"/>
              </a:lnSpc>
              <a:spcAft>
                <a:spcPts val="1000"/>
              </a:spcAft>
              <a:buSzPct val="100000"/>
              <a:buChar char="•"/>
            </a:pPr>
            <a:r>
              <a:rPr lang="en-US" sz="1450" dirty="0">
                <a:solidFill>
                  <a:srgbClr val="C7D2E6"/>
                </a:solidFill>
                <a:latin typeface="Calibri" pitchFamily="34" charset="0"/>
                <a:ea typeface="Calibri" pitchFamily="34" charset="-122"/>
                <a:cs typeface="Calibri" pitchFamily="34" charset="-120"/>
              </a:rPr>
              <a:t>Lọc dị ứng / ăn kiêng chính xác hơn</a:t>
            </a:r>
            <a:endParaRPr lang="en-US" sz="1450" dirty="0"/>
          </a:p>
          <a:p>
            <a:pPr marL="342900" indent="-342900">
              <a:lnSpc>
                <a:spcPct val="105000"/>
              </a:lnSpc>
              <a:spcAft>
                <a:spcPts val="1000"/>
              </a:spcAft>
              <a:buSzPct val="100000"/>
              <a:buChar char="•"/>
            </a:pPr>
            <a:r>
              <a:rPr lang="en-US" sz="1450" dirty="0">
                <a:solidFill>
                  <a:srgbClr val="C7D2E6"/>
                </a:solidFill>
                <a:latin typeface="Calibri" pitchFamily="34" charset="0"/>
                <a:ea typeface="Calibri" pitchFamily="34" charset="-122"/>
                <a:cs typeface="Calibri" pitchFamily="34" charset="-120"/>
              </a:rPr>
              <a:t>Đa ngôn ngữ cho khách quốc tế</a:t>
            </a:r>
            <a:endParaRPr lang="en-US" sz="1450" dirty="0"/>
          </a:p>
        </p:txBody>
      </p:sp>
      <p:sp>
        <p:nvSpPr>
          <p:cNvPr id="22" name="Text 17"/>
          <p:cNvSpPr/>
          <p:nvPr/>
        </p:nvSpPr>
        <p:spPr>
          <a:xfrm>
            <a:off x="640080" y="5715000"/>
            <a:ext cx="10881360" cy="548640"/>
          </a:xfrm>
          <a:prstGeom prst="rect">
            <a:avLst/>
          </a:prstGeom>
          <a:noFill/>
          <a:ln/>
        </p:spPr>
        <p:txBody>
          <a:bodyPr wrap="square" lIns="0" tIns="0" rIns="0" bIns="0" rtlCol="0" anchor="ctr"/>
          <a:lstStyle/>
          <a:p>
            <a:pPr algn="ctr" indent="0" marL="0">
              <a:buNone/>
            </a:pPr>
            <a:r>
              <a:rPr lang="en-US" sz="2200" b="1" i="1" dirty="0">
                <a:solidFill>
                  <a:srgbClr val="F2A03D"/>
                </a:solidFill>
                <a:latin typeface="Georgia" pitchFamily="34" charset="0"/>
                <a:ea typeface="Georgia" pitchFamily="34" charset="-122"/>
                <a:cs typeface="Georgia" pitchFamily="34" charset="-120"/>
              </a:rPr>
              <a:t>Cảm ơn — nhóm sẵn sàng Q&amp;A.</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Local Guide — Day 06</dc:title>
  <dc:subject>PptxGenJS Presentation</dc:subject>
  <dc:creator>Phan Văn Hiếu</dc:creator>
  <cp:lastModifiedBy>Phan Văn Hiếu</cp:lastModifiedBy>
  <cp:revision>1</cp:revision>
  <dcterms:created xsi:type="dcterms:W3CDTF">2026-06-04T03:21:45Z</dcterms:created>
  <dcterms:modified xsi:type="dcterms:W3CDTF">2026-06-04T03:21:45Z</dcterms:modified>
</cp:coreProperties>
</file>